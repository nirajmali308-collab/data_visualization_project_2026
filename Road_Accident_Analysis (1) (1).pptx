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54950E-D572-4752-96E3-B5CFB05D64B0}" v="89" dt="2026-04-17T16:58:17.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592FF37-CDFB-47B9-9FE4-644A440DE0BC}" type="datetimeFigureOut">
              <a:t>4/17/2026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32387155-3DA0-4D74-B039-32554A974C49}" type="slidenum">
              <a:t>‹#›</a:t>
            </a:fld>
            <a:endParaRPr lang="en-US"/>
          </a:p>
        </p:txBody>
      </p:sp>
    </p:spTree>
    <p:extLst>
      <p:ext uri="{BB962C8B-B14F-4D97-AF65-F5344CB8AC3E}">
        <p14:creationId xmlns:p14="http://schemas.microsoft.com/office/powerpoint/2010/main" val="680841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85042"/>
          </a:solidFill>
          <a:ln w="12700">
            <a:solidFill>
              <a:srgbClr val="B85042"/>
            </a:solidFill>
            <a:prstDash val="solid"/>
          </a:ln>
        </p:spPr>
      </p:sp>
      <p:sp>
        <p:nvSpPr>
          <p:cNvPr id="3" name="Text 1"/>
          <p:cNvSpPr/>
          <p:nvPr/>
        </p:nvSpPr>
        <p:spPr>
          <a:xfrm>
            <a:off x="411480" y="640080"/>
            <a:ext cx="8321040" cy="1005840"/>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Road Accident</a:t>
            </a:r>
            <a:endParaRPr lang="en-US" sz="5000" dirty="0"/>
          </a:p>
        </p:txBody>
      </p:sp>
      <p:sp>
        <p:nvSpPr>
          <p:cNvPr id="4" name="Text 2"/>
          <p:cNvSpPr/>
          <p:nvPr/>
        </p:nvSpPr>
        <p:spPr>
          <a:xfrm>
            <a:off x="411480" y="1554480"/>
            <a:ext cx="8321040" cy="914400"/>
          </a:xfrm>
          <a:prstGeom prst="rect">
            <a:avLst/>
          </a:prstGeom>
          <a:noFill/>
          <a:ln/>
        </p:spPr>
        <p:txBody>
          <a:bodyPr wrap="square" rtlCol="0" anchor="ctr"/>
          <a:lstStyle/>
          <a:p>
            <a:pPr marL="0" indent="0">
              <a:buNone/>
            </a:pPr>
            <a:r>
              <a:rPr lang="en-US" sz="5000" b="1" dirty="0">
                <a:solidFill>
                  <a:srgbClr val="E07B54"/>
                </a:solidFill>
                <a:latin typeface="Calibri" pitchFamily="34" charset="0"/>
                <a:ea typeface="Calibri" pitchFamily="34" charset="-122"/>
                <a:cs typeface="Calibri" pitchFamily="34" charset="-120"/>
              </a:rPr>
              <a:t>Data Analysis</a:t>
            </a:r>
            <a:endParaRPr lang="en-US" sz="5000" dirty="0"/>
          </a:p>
        </p:txBody>
      </p:sp>
      <p:sp>
        <p:nvSpPr>
          <p:cNvPr id="5" name="Text 3"/>
          <p:cNvSpPr/>
          <p:nvPr/>
        </p:nvSpPr>
        <p:spPr>
          <a:xfrm>
            <a:off x="411480" y="2514600"/>
            <a:ext cx="8321040" cy="457200"/>
          </a:xfrm>
          <a:prstGeom prst="rect">
            <a:avLst/>
          </a:prstGeom>
          <a:noFill/>
          <a:ln/>
        </p:spPr>
        <p:txBody>
          <a:bodyPr wrap="square" rtlCol="0" anchor="ctr"/>
          <a:lstStyle/>
          <a:p>
            <a:pPr marL="0" indent="0">
              <a:buNone/>
            </a:pPr>
            <a:r>
              <a:rPr lang="en-US" sz="2000" i="1" dirty="0">
                <a:solidFill>
                  <a:srgbClr val="B0A090"/>
                </a:solidFill>
                <a:latin typeface="Calibri" pitchFamily="34" charset="0"/>
                <a:ea typeface="Calibri" pitchFamily="34" charset="-122"/>
                <a:cs typeface="Calibri" pitchFamily="34" charset="-120"/>
              </a:rPr>
              <a:t>Risk Factors: A Visual Narrative</a:t>
            </a:r>
            <a:endParaRPr lang="en-US" sz="2000" dirty="0"/>
          </a:p>
        </p:txBody>
      </p:sp>
      <p:sp>
        <p:nvSpPr>
          <p:cNvPr id="6" name="Shape 4"/>
          <p:cNvSpPr/>
          <p:nvPr/>
        </p:nvSpPr>
        <p:spPr>
          <a:xfrm>
            <a:off x="411480" y="3246120"/>
            <a:ext cx="1965960" cy="1417320"/>
          </a:xfrm>
          <a:prstGeom prst="rect">
            <a:avLst/>
          </a:prstGeom>
          <a:solidFill>
            <a:srgbClr val="3A3C3E"/>
          </a:solidFill>
          <a:ln w="19050">
            <a:solidFill>
              <a:srgbClr val="B85042"/>
            </a:solidFill>
            <a:prstDash val="solid"/>
          </a:ln>
        </p:spPr>
      </p:sp>
      <p:sp>
        <p:nvSpPr>
          <p:cNvPr id="7" name="Text 5"/>
          <p:cNvSpPr/>
          <p:nvPr/>
        </p:nvSpPr>
        <p:spPr>
          <a:xfrm>
            <a:off x="411480" y="3291840"/>
            <a:ext cx="1965960" cy="731520"/>
          </a:xfrm>
          <a:prstGeom prst="rect">
            <a:avLst/>
          </a:prstGeom>
          <a:noFill/>
          <a:ln/>
        </p:spPr>
        <p:txBody>
          <a:bodyPr wrap="square" rtlCol="0" anchor="ctr"/>
          <a:lstStyle/>
          <a:p>
            <a:pPr marL="0" indent="0" algn="ctr">
              <a:buNone/>
            </a:pPr>
            <a:r>
              <a:rPr lang="en-US" sz="3000" b="1" dirty="0">
                <a:solidFill>
                  <a:srgbClr val="E07B54"/>
                </a:solidFill>
                <a:latin typeface="Calibri" pitchFamily="34" charset="0"/>
                <a:ea typeface="Calibri" pitchFamily="34" charset="-122"/>
                <a:cs typeface="Calibri" pitchFamily="34" charset="-120"/>
              </a:rPr>
              <a:t>1,610</a:t>
            </a:r>
            <a:endParaRPr lang="en-US" sz="3000" dirty="0"/>
          </a:p>
        </p:txBody>
      </p:sp>
      <p:sp>
        <p:nvSpPr>
          <p:cNvPr id="8" name="Text 6"/>
          <p:cNvSpPr/>
          <p:nvPr/>
        </p:nvSpPr>
        <p:spPr>
          <a:xfrm>
            <a:off x="411480" y="3977640"/>
            <a:ext cx="1965960" cy="548640"/>
          </a:xfrm>
          <a:prstGeom prst="rect">
            <a:avLst/>
          </a:prstGeom>
          <a:noFill/>
          <a:ln/>
        </p:spPr>
        <p:txBody>
          <a:bodyPr wrap="square" rtlCol="0" anchor="ctr"/>
          <a:lstStyle/>
          <a:p>
            <a:pPr marL="0" indent="0" algn="ctr">
              <a:buNone/>
            </a:pPr>
            <a:r>
              <a:rPr lang="en-US" sz="1200" dirty="0">
                <a:solidFill>
                  <a:srgbClr val="C0B0A0"/>
                </a:solidFill>
                <a:latin typeface="Calibri" pitchFamily="34" charset="0"/>
                <a:ea typeface="Calibri" pitchFamily="34" charset="-122"/>
                <a:cs typeface="Calibri" pitchFamily="34" charset="-120"/>
              </a:rPr>
              <a:t>Raw Records</a:t>
            </a:r>
            <a:endParaRPr lang="en-US" sz="1200" dirty="0"/>
          </a:p>
        </p:txBody>
      </p:sp>
      <p:sp>
        <p:nvSpPr>
          <p:cNvPr id="9" name="Shape 7"/>
          <p:cNvSpPr/>
          <p:nvPr/>
        </p:nvSpPr>
        <p:spPr>
          <a:xfrm>
            <a:off x="2587752" y="3246120"/>
            <a:ext cx="1965960" cy="1417320"/>
          </a:xfrm>
          <a:prstGeom prst="rect">
            <a:avLst/>
          </a:prstGeom>
          <a:solidFill>
            <a:srgbClr val="3A3C3E"/>
          </a:solidFill>
          <a:ln w="19050">
            <a:solidFill>
              <a:srgbClr val="B85042"/>
            </a:solidFill>
            <a:prstDash val="solid"/>
          </a:ln>
        </p:spPr>
      </p:sp>
      <p:sp>
        <p:nvSpPr>
          <p:cNvPr id="10" name="Text 8"/>
          <p:cNvSpPr/>
          <p:nvPr/>
        </p:nvSpPr>
        <p:spPr>
          <a:xfrm>
            <a:off x="2587752" y="3291840"/>
            <a:ext cx="1965960" cy="731520"/>
          </a:xfrm>
          <a:prstGeom prst="rect">
            <a:avLst/>
          </a:prstGeom>
          <a:noFill/>
          <a:ln/>
        </p:spPr>
        <p:txBody>
          <a:bodyPr wrap="square" rtlCol="0" anchor="ctr"/>
          <a:lstStyle/>
          <a:p>
            <a:pPr marL="0" indent="0" algn="ctr">
              <a:buNone/>
            </a:pPr>
            <a:r>
              <a:rPr lang="en-US" sz="3000" b="1" dirty="0">
                <a:solidFill>
                  <a:srgbClr val="E07B54"/>
                </a:solidFill>
                <a:latin typeface="Calibri" pitchFamily="34" charset="0"/>
                <a:ea typeface="Calibri" pitchFamily="34" charset="-122"/>
                <a:cs typeface="Calibri" pitchFamily="34" charset="-120"/>
              </a:rPr>
              <a:t>1,610</a:t>
            </a:r>
            <a:endParaRPr lang="en-US" sz="3000" dirty="0"/>
          </a:p>
        </p:txBody>
      </p:sp>
      <p:sp>
        <p:nvSpPr>
          <p:cNvPr id="11" name="Text 9"/>
          <p:cNvSpPr/>
          <p:nvPr/>
        </p:nvSpPr>
        <p:spPr>
          <a:xfrm>
            <a:off x="2587752" y="3977640"/>
            <a:ext cx="1965960" cy="548640"/>
          </a:xfrm>
          <a:prstGeom prst="rect">
            <a:avLst/>
          </a:prstGeom>
          <a:noFill/>
          <a:ln/>
        </p:spPr>
        <p:txBody>
          <a:bodyPr wrap="square" rtlCol="0" anchor="ctr"/>
          <a:lstStyle/>
          <a:p>
            <a:pPr marL="0" indent="0" algn="ctr">
              <a:buNone/>
            </a:pPr>
            <a:r>
              <a:rPr lang="en-US" sz="1200" dirty="0">
                <a:solidFill>
                  <a:srgbClr val="C0B0A0"/>
                </a:solidFill>
                <a:latin typeface="Calibri" pitchFamily="34" charset="0"/>
                <a:ea typeface="Calibri" pitchFamily="34" charset="-122"/>
                <a:cs typeface="Calibri" pitchFamily="34" charset="-120"/>
              </a:rPr>
              <a:t>Cleaned Records</a:t>
            </a:r>
            <a:endParaRPr lang="en-US" sz="1200" dirty="0"/>
          </a:p>
        </p:txBody>
      </p:sp>
      <p:sp>
        <p:nvSpPr>
          <p:cNvPr id="12" name="Shape 10"/>
          <p:cNvSpPr/>
          <p:nvPr/>
        </p:nvSpPr>
        <p:spPr>
          <a:xfrm>
            <a:off x="4764024" y="3246120"/>
            <a:ext cx="1965960" cy="1417320"/>
          </a:xfrm>
          <a:prstGeom prst="rect">
            <a:avLst/>
          </a:prstGeom>
          <a:solidFill>
            <a:srgbClr val="3A3C3E"/>
          </a:solidFill>
          <a:ln w="19050">
            <a:solidFill>
              <a:srgbClr val="B85042"/>
            </a:solidFill>
            <a:prstDash val="solid"/>
          </a:ln>
        </p:spPr>
      </p:sp>
      <p:sp>
        <p:nvSpPr>
          <p:cNvPr id="13" name="Text 11"/>
          <p:cNvSpPr/>
          <p:nvPr/>
        </p:nvSpPr>
        <p:spPr>
          <a:xfrm>
            <a:off x="4764024" y="3291840"/>
            <a:ext cx="1965960" cy="731520"/>
          </a:xfrm>
          <a:prstGeom prst="rect">
            <a:avLst/>
          </a:prstGeom>
          <a:noFill/>
          <a:ln/>
        </p:spPr>
        <p:txBody>
          <a:bodyPr wrap="square" rtlCol="0" anchor="ctr"/>
          <a:lstStyle/>
          <a:p>
            <a:pPr marL="0" indent="0" algn="ctr">
              <a:buNone/>
            </a:pPr>
            <a:r>
              <a:rPr lang="en-US" sz="3000" b="1" dirty="0">
                <a:solidFill>
                  <a:srgbClr val="E07B54"/>
                </a:solidFill>
                <a:latin typeface="Calibri" pitchFamily="34" charset="0"/>
                <a:ea typeface="Calibri" pitchFamily="34" charset="-122"/>
                <a:cs typeface="Calibri" pitchFamily="34" charset="-120"/>
              </a:rPr>
              <a:t>23</a:t>
            </a:r>
            <a:endParaRPr lang="en-US" sz="3000" dirty="0"/>
          </a:p>
        </p:txBody>
      </p:sp>
      <p:sp>
        <p:nvSpPr>
          <p:cNvPr id="14" name="Text 12"/>
          <p:cNvSpPr/>
          <p:nvPr/>
        </p:nvSpPr>
        <p:spPr>
          <a:xfrm>
            <a:off x="4764024" y="3977640"/>
            <a:ext cx="1965960" cy="548640"/>
          </a:xfrm>
          <a:prstGeom prst="rect">
            <a:avLst/>
          </a:prstGeom>
          <a:noFill/>
          <a:ln/>
        </p:spPr>
        <p:txBody>
          <a:bodyPr wrap="square" rtlCol="0" anchor="ctr"/>
          <a:lstStyle/>
          <a:p>
            <a:pPr marL="0" indent="0" algn="ctr">
              <a:buNone/>
            </a:pPr>
            <a:r>
              <a:rPr lang="en-US" sz="1200" dirty="0">
                <a:solidFill>
                  <a:srgbClr val="C0B0A0"/>
                </a:solidFill>
                <a:latin typeface="Calibri" pitchFamily="34" charset="0"/>
                <a:ea typeface="Calibri" pitchFamily="34" charset="-122"/>
                <a:cs typeface="Calibri" pitchFamily="34" charset="-120"/>
              </a:rPr>
              <a:t>Variables</a:t>
            </a:r>
            <a:endParaRPr lang="en-US" sz="1200" dirty="0"/>
          </a:p>
        </p:txBody>
      </p:sp>
      <p:sp>
        <p:nvSpPr>
          <p:cNvPr id="15" name="Shape 13"/>
          <p:cNvSpPr/>
          <p:nvPr/>
        </p:nvSpPr>
        <p:spPr>
          <a:xfrm>
            <a:off x="6940296" y="3246120"/>
            <a:ext cx="1965960" cy="1417320"/>
          </a:xfrm>
          <a:prstGeom prst="rect">
            <a:avLst/>
          </a:prstGeom>
          <a:solidFill>
            <a:srgbClr val="3A3C3E"/>
          </a:solidFill>
          <a:ln w="19050">
            <a:solidFill>
              <a:srgbClr val="B85042"/>
            </a:solidFill>
            <a:prstDash val="solid"/>
          </a:ln>
        </p:spPr>
      </p:sp>
      <p:sp>
        <p:nvSpPr>
          <p:cNvPr id="16" name="Text 14"/>
          <p:cNvSpPr/>
          <p:nvPr/>
        </p:nvSpPr>
        <p:spPr>
          <a:xfrm>
            <a:off x="6940296" y="3291840"/>
            <a:ext cx="1965960" cy="731520"/>
          </a:xfrm>
          <a:prstGeom prst="rect">
            <a:avLst/>
          </a:prstGeom>
          <a:noFill/>
          <a:ln/>
        </p:spPr>
        <p:txBody>
          <a:bodyPr wrap="square" rtlCol="0" anchor="ctr"/>
          <a:lstStyle/>
          <a:p>
            <a:pPr marL="0" indent="0" algn="ctr">
              <a:buNone/>
            </a:pPr>
            <a:r>
              <a:rPr lang="en-US" sz="3000" b="1" dirty="0">
                <a:solidFill>
                  <a:srgbClr val="E07B54"/>
                </a:solidFill>
                <a:latin typeface="Calibri" pitchFamily="34" charset="0"/>
                <a:ea typeface="Calibri" pitchFamily="34" charset="-122"/>
                <a:cs typeface="Calibri" pitchFamily="34" charset="-120"/>
              </a:rPr>
              <a:t>50</a:t>
            </a:r>
            <a:endParaRPr lang="en-US" sz="3000" dirty="0"/>
          </a:p>
        </p:txBody>
      </p:sp>
      <p:sp>
        <p:nvSpPr>
          <p:cNvPr id="17" name="Text 15"/>
          <p:cNvSpPr/>
          <p:nvPr/>
        </p:nvSpPr>
        <p:spPr>
          <a:xfrm>
            <a:off x="6940296" y="3977640"/>
            <a:ext cx="1965960" cy="548640"/>
          </a:xfrm>
          <a:prstGeom prst="rect">
            <a:avLst/>
          </a:prstGeom>
          <a:noFill/>
          <a:ln/>
        </p:spPr>
        <p:txBody>
          <a:bodyPr wrap="square" rtlCol="0" anchor="ctr"/>
          <a:lstStyle/>
          <a:p>
            <a:pPr marL="0" indent="0" algn="ctr">
              <a:buNone/>
            </a:pPr>
            <a:r>
              <a:rPr lang="en-US" sz="1200" dirty="0">
                <a:solidFill>
                  <a:srgbClr val="C0B0A0"/>
                </a:solidFill>
                <a:latin typeface="Calibri" pitchFamily="34" charset="0"/>
                <a:ea typeface="Calibri" pitchFamily="34" charset="-122"/>
                <a:cs typeface="Calibri" pitchFamily="34" charset="-120"/>
              </a:rPr>
              <a:t>US States</a:t>
            </a:r>
            <a:endParaRPr lang="en-US" sz="1200" dirty="0"/>
          </a:p>
        </p:txBody>
      </p:sp>
      <p:sp>
        <p:nvSpPr>
          <p:cNvPr id="18" name="Text 16"/>
          <p:cNvSpPr/>
          <p:nvPr/>
        </p:nvSpPr>
        <p:spPr>
          <a:xfrm>
            <a:off x="411480" y="4800600"/>
            <a:ext cx="8321040" cy="256032"/>
          </a:xfrm>
          <a:prstGeom prst="rect">
            <a:avLst/>
          </a:prstGeom>
          <a:noFill/>
          <a:ln/>
        </p:spPr>
        <p:txBody>
          <a:bodyPr wrap="square" rtlCol="0" anchor="ctr"/>
          <a:lstStyle/>
          <a:p>
            <a:pPr marL="0" indent="0">
              <a:buNone/>
            </a:pPr>
            <a:r>
              <a:rPr lang="en-US" sz="1000" dirty="0">
                <a:solidFill>
                  <a:srgbClr val="7A8694"/>
                </a:solidFill>
                <a:latin typeface="Calibri" pitchFamily="34" charset="0"/>
                <a:ea typeface="Calibri" pitchFamily="34" charset="-122"/>
                <a:cs typeface="Calibri" pitchFamily="34" charset="-120"/>
              </a:rPr>
              <a:t>Source: Road Accident Dataset  |  Jan–Feb 2024  |  50 US States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3400" b="1" dirty="0">
                <a:solidFill>
                  <a:srgbClr val="B85042"/>
                </a:solidFill>
                <a:latin typeface="Calibri" pitchFamily="34" charset="0"/>
                <a:ea typeface="Calibri" pitchFamily="34" charset="-122"/>
                <a:cs typeface="Calibri" pitchFamily="34" charset="-120"/>
              </a:rPr>
              <a:t>About the Dataset</a:t>
            </a:r>
            <a:endParaRPr lang="en-US" sz="3400" dirty="0"/>
          </a:p>
        </p:txBody>
      </p:sp>
      <p:sp>
        <p:nvSpPr>
          <p:cNvPr id="3" name="Shape 1"/>
          <p:cNvSpPr/>
          <p:nvPr/>
        </p:nvSpPr>
        <p:spPr>
          <a:xfrm>
            <a:off x="457200" y="868680"/>
            <a:ext cx="3931920" cy="2606040"/>
          </a:xfrm>
          <a:prstGeom prst="rect">
            <a:avLst/>
          </a:prstGeom>
          <a:solidFill>
            <a:srgbClr val="FBF6F1"/>
          </a:solidFill>
          <a:ln w="12700">
            <a:solidFill>
              <a:srgbClr val="D6C5B8"/>
            </a:solidFill>
            <a:prstDash val="solid"/>
          </a:ln>
        </p:spPr>
      </p:sp>
      <p:sp>
        <p:nvSpPr>
          <p:cNvPr id="4" name="Text 2"/>
          <p:cNvSpPr/>
          <p:nvPr/>
        </p:nvSpPr>
        <p:spPr>
          <a:xfrm>
            <a:off x="594360" y="960120"/>
            <a:ext cx="3657600" cy="347472"/>
          </a:xfrm>
          <a:prstGeom prst="rect">
            <a:avLst/>
          </a:prstGeom>
          <a:noFill/>
          <a:ln/>
        </p:spPr>
        <p:txBody>
          <a:bodyPr wrap="square"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Dataset Background</a:t>
            </a:r>
            <a:endParaRPr lang="en-US" sz="1500" dirty="0"/>
          </a:p>
        </p:txBody>
      </p:sp>
      <p:sp>
        <p:nvSpPr>
          <p:cNvPr id="5" name="Text 3"/>
          <p:cNvSpPr/>
          <p:nvPr/>
        </p:nvSpPr>
        <p:spPr>
          <a:xfrm>
            <a:off x="594360" y="1353312"/>
            <a:ext cx="3657600" cy="2011680"/>
          </a:xfrm>
          <a:prstGeom prst="rect">
            <a:avLst/>
          </a:prstGeom>
          <a:noFill/>
          <a:ln/>
        </p:spPr>
        <p:txBody>
          <a:bodyPr wrap="square" rtlCol="0" anchor="ctr"/>
          <a:lstStyle/>
          <a:p>
            <a:pPr marL="0" indent="0">
              <a:buNone/>
            </a:pPr>
            <a:r>
              <a:rPr lang="en-US" sz="1200" dirty="0">
                <a:solidFill>
                  <a:srgbClr val="2B2D2F"/>
                </a:solidFill>
                <a:latin typeface="Calibri" pitchFamily="34" charset="0"/>
                <a:ea typeface="Calibri" pitchFamily="34" charset="-122"/>
                <a:cs typeface="Calibri" pitchFamily="34" charset="-120"/>
              </a:rPr>
              <a:t>This dataset contains 1,610 road accident records from across 50 US States, collected during January–February 2024.
Each record captures the full accident context including weather, road type, driver demographics, vehicle details, and emergency response time.
The dataset was synthetically generated to mirror real-world accident patterns and was used to practice data cleaning and visualization.</a:t>
            </a:r>
            <a:endParaRPr lang="en-US" sz="1200" dirty="0"/>
          </a:p>
        </p:txBody>
      </p:sp>
      <p:sp>
        <p:nvSpPr>
          <p:cNvPr id="6" name="Shape 4"/>
          <p:cNvSpPr/>
          <p:nvPr/>
        </p:nvSpPr>
        <p:spPr>
          <a:xfrm>
            <a:off x="4617720" y="868680"/>
            <a:ext cx="4069080" cy="2606040"/>
          </a:xfrm>
          <a:prstGeom prst="rect">
            <a:avLst/>
          </a:prstGeom>
          <a:solidFill>
            <a:srgbClr val="FBF6F1"/>
          </a:solidFill>
          <a:ln w="12700">
            <a:solidFill>
              <a:srgbClr val="D6C5B8"/>
            </a:solidFill>
            <a:prstDash val="solid"/>
          </a:ln>
        </p:spPr>
      </p:sp>
      <p:sp>
        <p:nvSpPr>
          <p:cNvPr id="7" name="Text 5"/>
          <p:cNvSpPr/>
          <p:nvPr/>
        </p:nvSpPr>
        <p:spPr>
          <a:xfrm>
            <a:off x="4754880" y="960120"/>
            <a:ext cx="3749040" cy="347472"/>
          </a:xfrm>
          <a:prstGeom prst="rect">
            <a:avLst/>
          </a:prstGeom>
          <a:noFill/>
          <a:ln/>
        </p:spPr>
        <p:txBody>
          <a:bodyPr wrap="square"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Key Variables</a:t>
            </a:r>
            <a:endParaRPr lang="en-US" sz="1500" dirty="0"/>
          </a:p>
        </p:txBody>
      </p:sp>
      <p:sp>
        <p:nvSpPr>
          <p:cNvPr id="8" name="Text 6"/>
          <p:cNvSpPr/>
          <p:nvPr/>
        </p:nvSpPr>
        <p:spPr>
          <a:xfrm>
            <a:off x="4754880" y="1353312"/>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State:</a:t>
            </a:r>
            <a:endParaRPr lang="en-US" sz="1100" dirty="0"/>
          </a:p>
        </p:txBody>
      </p:sp>
      <p:sp>
        <p:nvSpPr>
          <p:cNvPr id="9" name="Text 7"/>
          <p:cNvSpPr/>
          <p:nvPr/>
        </p:nvSpPr>
        <p:spPr>
          <a:xfrm>
            <a:off x="6492240" y="1353312"/>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50 US States</a:t>
            </a:r>
            <a:endParaRPr lang="en-US" sz="1100" dirty="0"/>
          </a:p>
        </p:txBody>
      </p:sp>
      <p:sp>
        <p:nvSpPr>
          <p:cNvPr id="10" name="Text 8"/>
          <p:cNvSpPr/>
          <p:nvPr/>
        </p:nvSpPr>
        <p:spPr>
          <a:xfrm>
            <a:off x="4754880" y="1618488"/>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Weather Conditions:</a:t>
            </a:r>
            <a:endParaRPr lang="en-US" sz="1100" dirty="0"/>
          </a:p>
        </p:txBody>
      </p:sp>
      <p:sp>
        <p:nvSpPr>
          <p:cNvPr id="11" name="Text 9"/>
          <p:cNvSpPr/>
          <p:nvPr/>
        </p:nvSpPr>
        <p:spPr>
          <a:xfrm>
            <a:off x="6492240" y="1618488"/>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Rainy, Sunny, Snowy, Foggy, Stormy</a:t>
            </a:r>
            <a:endParaRPr lang="en-US" sz="1100" dirty="0"/>
          </a:p>
        </p:txBody>
      </p:sp>
      <p:sp>
        <p:nvSpPr>
          <p:cNvPr id="12" name="Text 10"/>
          <p:cNvSpPr/>
          <p:nvPr/>
        </p:nvSpPr>
        <p:spPr>
          <a:xfrm>
            <a:off x="4754880" y="1883664"/>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Road Conditions:</a:t>
            </a:r>
            <a:endParaRPr lang="en-US" sz="1100" dirty="0"/>
          </a:p>
        </p:txBody>
      </p:sp>
      <p:sp>
        <p:nvSpPr>
          <p:cNvPr id="13" name="Text 11"/>
          <p:cNvSpPr/>
          <p:nvPr/>
        </p:nvSpPr>
        <p:spPr>
          <a:xfrm>
            <a:off x="6492240" y="1883664"/>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Dry, Wet, Muddy, Icy, Snowy</a:t>
            </a:r>
            <a:endParaRPr lang="en-US" sz="1100" dirty="0"/>
          </a:p>
        </p:txBody>
      </p:sp>
      <p:sp>
        <p:nvSpPr>
          <p:cNvPr id="14" name="Text 12"/>
          <p:cNvSpPr/>
          <p:nvPr/>
        </p:nvSpPr>
        <p:spPr>
          <a:xfrm>
            <a:off x="4754880" y="2148840"/>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Light Conditions:</a:t>
            </a:r>
            <a:endParaRPr lang="en-US" sz="1100" dirty="0"/>
          </a:p>
        </p:txBody>
      </p:sp>
      <p:sp>
        <p:nvSpPr>
          <p:cNvPr id="15" name="Text 13"/>
          <p:cNvSpPr/>
          <p:nvPr/>
        </p:nvSpPr>
        <p:spPr>
          <a:xfrm>
            <a:off x="6492240" y="2148840"/>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Daylight, Dawn, Dusk, Night</a:t>
            </a:r>
            <a:endParaRPr lang="en-US" sz="1100" dirty="0"/>
          </a:p>
        </p:txBody>
      </p:sp>
      <p:sp>
        <p:nvSpPr>
          <p:cNvPr id="16" name="Text 14"/>
          <p:cNvSpPr/>
          <p:nvPr/>
        </p:nvSpPr>
        <p:spPr>
          <a:xfrm>
            <a:off x="4754880" y="2414016"/>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Type of Road:</a:t>
            </a:r>
            <a:endParaRPr lang="en-US" sz="1100" dirty="0"/>
          </a:p>
        </p:txBody>
      </p:sp>
      <p:sp>
        <p:nvSpPr>
          <p:cNvPr id="17" name="Text 15"/>
          <p:cNvSpPr/>
          <p:nvPr/>
        </p:nvSpPr>
        <p:spPr>
          <a:xfrm>
            <a:off x="6492240" y="2414016"/>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Street, Highway, Rural, Urban, Freeway</a:t>
            </a:r>
            <a:endParaRPr lang="en-US" sz="1100" dirty="0"/>
          </a:p>
        </p:txBody>
      </p:sp>
      <p:sp>
        <p:nvSpPr>
          <p:cNvPr id="18" name="Text 16"/>
          <p:cNvSpPr/>
          <p:nvPr/>
        </p:nvSpPr>
        <p:spPr>
          <a:xfrm>
            <a:off x="4754880" y="2679192"/>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Driver Age Group:</a:t>
            </a:r>
            <a:endParaRPr lang="en-US" sz="1100" dirty="0"/>
          </a:p>
        </p:txBody>
      </p:sp>
      <p:sp>
        <p:nvSpPr>
          <p:cNvPr id="19" name="Text 17"/>
          <p:cNvSpPr/>
          <p:nvPr/>
        </p:nvSpPr>
        <p:spPr>
          <a:xfrm>
            <a:off x="6492240" y="2679192"/>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Teenager, Young Adult, Adult, Senior</a:t>
            </a:r>
            <a:endParaRPr lang="en-US" sz="1100" dirty="0"/>
          </a:p>
        </p:txBody>
      </p:sp>
      <p:sp>
        <p:nvSpPr>
          <p:cNvPr id="20" name="Text 18"/>
          <p:cNvSpPr/>
          <p:nvPr/>
        </p:nvSpPr>
        <p:spPr>
          <a:xfrm>
            <a:off x="4754880" y="2944368"/>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Num Casualties:</a:t>
            </a:r>
            <a:endParaRPr lang="en-US" sz="1100" dirty="0"/>
          </a:p>
        </p:txBody>
      </p:sp>
      <p:sp>
        <p:nvSpPr>
          <p:cNvPr id="21" name="Text 19"/>
          <p:cNvSpPr/>
          <p:nvPr/>
        </p:nvSpPr>
        <p:spPr>
          <a:xfrm>
            <a:off x="6492240" y="2944368"/>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Injuries per accident (0–5+)</a:t>
            </a:r>
            <a:endParaRPr lang="en-US" sz="1100" dirty="0"/>
          </a:p>
        </p:txBody>
      </p:sp>
      <p:sp>
        <p:nvSpPr>
          <p:cNvPr id="22" name="Text 20"/>
          <p:cNvSpPr/>
          <p:nvPr/>
        </p:nvSpPr>
        <p:spPr>
          <a:xfrm>
            <a:off x="4754880" y="3209544"/>
            <a:ext cx="1737360" cy="2468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Vehicle Speed:</a:t>
            </a:r>
            <a:endParaRPr lang="en-US" sz="1100" dirty="0"/>
          </a:p>
        </p:txBody>
      </p:sp>
      <p:sp>
        <p:nvSpPr>
          <p:cNvPr id="23" name="Text 21"/>
          <p:cNvSpPr/>
          <p:nvPr/>
        </p:nvSpPr>
        <p:spPr>
          <a:xfrm>
            <a:off x="6492240" y="3209544"/>
            <a:ext cx="2103120" cy="24688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Speed at time of accident</a:t>
            </a:r>
            <a:endParaRPr lang="en-US" sz="1100" dirty="0"/>
          </a:p>
        </p:txBody>
      </p:sp>
      <p:sp>
        <p:nvSpPr>
          <p:cNvPr id="24" name="Shape 22"/>
          <p:cNvSpPr/>
          <p:nvPr/>
        </p:nvSpPr>
        <p:spPr>
          <a:xfrm>
            <a:off x="457200" y="3657600"/>
            <a:ext cx="1965960" cy="1005840"/>
          </a:xfrm>
          <a:prstGeom prst="rect">
            <a:avLst/>
          </a:prstGeom>
          <a:solidFill>
            <a:srgbClr val="B85042"/>
          </a:solidFill>
          <a:ln w="12700">
            <a:solidFill>
              <a:srgbClr val="B85042"/>
            </a:solidFill>
            <a:prstDash val="solid"/>
          </a:ln>
        </p:spPr>
      </p:sp>
      <p:sp>
        <p:nvSpPr>
          <p:cNvPr id="25" name="Text 23"/>
          <p:cNvSpPr/>
          <p:nvPr/>
        </p:nvSpPr>
        <p:spPr>
          <a:xfrm>
            <a:off x="457200" y="3703320"/>
            <a:ext cx="19659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1,610</a:t>
            </a:r>
            <a:endParaRPr lang="en-US" sz="2200" dirty="0"/>
          </a:p>
        </p:txBody>
      </p:sp>
      <p:sp>
        <p:nvSpPr>
          <p:cNvPr id="26" name="Text 24"/>
          <p:cNvSpPr/>
          <p:nvPr/>
        </p:nvSpPr>
        <p:spPr>
          <a:xfrm>
            <a:off x="457200" y="4224528"/>
            <a:ext cx="196596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Total Records</a:t>
            </a:r>
            <a:endParaRPr lang="en-US" sz="1100" dirty="0"/>
          </a:p>
        </p:txBody>
      </p:sp>
      <p:sp>
        <p:nvSpPr>
          <p:cNvPr id="27" name="Shape 25"/>
          <p:cNvSpPr/>
          <p:nvPr/>
        </p:nvSpPr>
        <p:spPr>
          <a:xfrm>
            <a:off x="2633472" y="3657600"/>
            <a:ext cx="1965960" cy="1005840"/>
          </a:xfrm>
          <a:prstGeom prst="rect">
            <a:avLst/>
          </a:prstGeom>
          <a:solidFill>
            <a:srgbClr val="B85042"/>
          </a:solidFill>
          <a:ln w="12700">
            <a:solidFill>
              <a:srgbClr val="B85042"/>
            </a:solidFill>
            <a:prstDash val="solid"/>
          </a:ln>
        </p:spPr>
      </p:sp>
      <p:sp>
        <p:nvSpPr>
          <p:cNvPr id="28" name="Text 26"/>
          <p:cNvSpPr/>
          <p:nvPr/>
        </p:nvSpPr>
        <p:spPr>
          <a:xfrm>
            <a:off x="2633472" y="3703320"/>
            <a:ext cx="19659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23</a:t>
            </a:r>
            <a:endParaRPr lang="en-US" sz="2200" dirty="0"/>
          </a:p>
        </p:txBody>
      </p:sp>
      <p:sp>
        <p:nvSpPr>
          <p:cNvPr id="29" name="Text 27"/>
          <p:cNvSpPr/>
          <p:nvPr/>
        </p:nvSpPr>
        <p:spPr>
          <a:xfrm>
            <a:off x="2633472" y="4224528"/>
            <a:ext cx="196596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Columns</a:t>
            </a:r>
            <a:endParaRPr lang="en-US" sz="1100" dirty="0"/>
          </a:p>
        </p:txBody>
      </p:sp>
      <p:sp>
        <p:nvSpPr>
          <p:cNvPr id="30" name="Shape 28"/>
          <p:cNvSpPr/>
          <p:nvPr/>
        </p:nvSpPr>
        <p:spPr>
          <a:xfrm>
            <a:off x="4809744" y="3657600"/>
            <a:ext cx="1965960" cy="1005840"/>
          </a:xfrm>
          <a:prstGeom prst="rect">
            <a:avLst/>
          </a:prstGeom>
          <a:solidFill>
            <a:srgbClr val="B85042"/>
          </a:solidFill>
          <a:ln w="12700">
            <a:solidFill>
              <a:srgbClr val="B85042"/>
            </a:solidFill>
            <a:prstDash val="solid"/>
          </a:ln>
        </p:spPr>
      </p:sp>
      <p:sp>
        <p:nvSpPr>
          <p:cNvPr id="31" name="Text 29"/>
          <p:cNvSpPr/>
          <p:nvPr/>
        </p:nvSpPr>
        <p:spPr>
          <a:xfrm>
            <a:off x="4809744" y="3703320"/>
            <a:ext cx="19659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50</a:t>
            </a:r>
            <a:endParaRPr lang="en-US" sz="2200" dirty="0"/>
          </a:p>
        </p:txBody>
      </p:sp>
      <p:sp>
        <p:nvSpPr>
          <p:cNvPr id="32" name="Text 30"/>
          <p:cNvSpPr/>
          <p:nvPr/>
        </p:nvSpPr>
        <p:spPr>
          <a:xfrm>
            <a:off x="4809744" y="4224528"/>
            <a:ext cx="196596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US States</a:t>
            </a:r>
            <a:endParaRPr lang="en-US" sz="1100" dirty="0"/>
          </a:p>
        </p:txBody>
      </p:sp>
      <p:sp>
        <p:nvSpPr>
          <p:cNvPr id="33" name="Shape 31"/>
          <p:cNvSpPr/>
          <p:nvPr/>
        </p:nvSpPr>
        <p:spPr>
          <a:xfrm>
            <a:off x="6986016" y="3657600"/>
            <a:ext cx="1965960" cy="1005840"/>
          </a:xfrm>
          <a:prstGeom prst="rect">
            <a:avLst/>
          </a:prstGeom>
          <a:solidFill>
            <a:srgbClr val="B85042"/>
          </a:solidFill>
          <a:ln w="12700">
            <a:solidFill>
              <a:srgbClr val="B85042"/>
            </a:solidFill>
            <a:prstDash val="solid"/>
          </a:ln>
        </p:spPr>
      </p:sp>
      <p:sp>
        <p:nvSpPr>
          <p:cNvPr id="34" name="Text 32"/>
          <p:cNvSpPr/>
          <p:nvPr/>
        </p:nvSpPr>
        <p:spPr>
          <a:xfrm>
            <a:off x="6986016" y="3703320"/>
            <a:ext cx="19659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Jan–Feb 2024</a:t>
            </a:r>
            <a:endParaRPr lang="en-US" sz="2200" dirty="0"/>
          </a:p>
        </p:txBody>
      </p:sp>
      <p:sp>
        <p:nvSpPr>
          <p:cNvPr id="35" name="Text 33"/>
          <p:cNvSpPr/>
          <p:nvPr/>
        </p:nvSpPr>
        <p:spPr>
          <a:xfrm>
            <a:off x="6986016" y="4224528"/>
            <a:ext cx="196596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Date Range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3400" b="1" dirty="0">
                <a:solidFill>
                  <a:srgbClr val="B85042"/>
                </a:solidFill>
                <a:latin typeface="Calibri" pitchFamily="34" charset="0"/>
                <a:ea typeface="Calibri" pitchFamily="34" charset="-122"/>
                <a:cs typeface="Calibri" pitchFamily="34" charset="-120"/>
              </a:rPr>
              <a:t>Data Cleaning Process</a:t>
            </a:r>
            <a:endParaRPr lang="en-US" sz="3400" dirty="0"/>
          </a:p>
        </p:txBody>
      </p:sp>
      <p:sp>
        <p:nvSpPr>
          <p:cNvPr id="3" name="Shape 1"/>
          <p:cNvSpPr/>
          <p:nvPr/>
        </p:nvSpPr>
        <p:spPr>
          <a:xfrm>
            <a:off x="457200" y="914400"/>
            <a:ext cx="4114800" cy="1170432"/>
          </a:xfrm>
          <a:prstGeom prst="rect">
            <a:avLst/>
          </a:prstGeom>
          <a:solidFill>
            <a:srgbClr val="FBF6F1"/>
          </a:solidFill>
          <a:ln w="12700">
            <a:solidFill>
              <a:srgbClr val="D6C5B8"/>
            </a:solidFill>
            <a:prstDash val="solid"/>
          </a:ln>
        </p:spPr>
      </p:sp>
      <p:sp>
        <p:nvSpPr>
          <p:cNvPr id="4" name="Shape 2"/>
          <p:cNvSpPr/>
          <p:nvPr/>
        </p:nvSpPr>
        <p:spPr>
          <a:xfrm>
            <a:off x="457200" y="914400"/>
            <a:ext cx="82296" cy="1170432"/>
          </a:xfrm>
          <a:prstGeom prst="rect">
            <a:avLst/>
          </a:prstGeom>
          <a:solidFill>
            <a:srgbClr val="B85042"/>
          </a:solidFill>
          <a:ln w="12700">
            <a:solidFill>
              <a:srgbClr val="B85042"/>
            </a:solidFill>
            <a:prstDash val="solid"/>
          </a:ln>
        </p:spPr>
      </p:sp>
      <p:sp>
        <p:nvSpPr>
          <p:cNvPr id="5" name="Text 3"/>
          <p:cNvSpPr/>
          <p:nvPr/>
        </p:nvSpPr>
        <p:spPr>
          <a:xfrm>
            <a:off x="621792" y="969264"/>
            <a:ext cx="388620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Missing: Weather Conditions</a:t>
            </a:r>
            <a:endParaRPr lang="en-US" sz="1200" dirty="0"/>
          </a:p>
        </p:txBody>
      </p:sp>
      <p:sp>
        <p:nvSpPr>
          <p:cNvPr id="6" name="Text 4"/>
          <p:cNvSpPr/>
          <p:nvPr/>
        </p:nvSpPr>
        <p:spPr>
          <a:xfrm>
            <a:off x="621792" y="1234440"/>
            <a:ext cx="3886200" cy="384048"/>
          </a:xfrm>
          <a:prstGeom prst="rect">
            <a:avLst/>
          </a:prstGeom>
          <a:noFill/>
          <a:ln/>
        </p:spPr>
        <p:txBody>
          <a:bodyPr wrap="square" rtlCol="0" anchor="ctr"/>
          <a:lstStyle/>
          <a:p>
            <a:pPr marL="0" indent="0">
              <a:buNone/>
            </a:pPr>
            <a:r>
              <a:rPr lang="en-US" sz="1050" dirty="0">
                <a:solidFill>
                  <a:srgbClr val="8B3A2A"/>
                </a:solidFill>
                <a:latin typeface="Calibri" pitchFamily="34" charset="0"/>
                <a:ea typeface="Calibri" pitchFamily="34" charset="-122"/>
                <a:cs typeface="Calibri" pitchFamily="34" charset="-120"/>
              </a:rPr>
              <a:t>⚠ 149 out of 1,610 records (9.3%) had no weather data — critical for accident analysis.</a:t>
            </a:r>
            <a:endParaRPr lang="en-US" sz="1050" dirty="0"/>
          </a:p>
        </p:txBody>
      </p:sp>
      <p:sp>
        <p:nvSpPr>
          <p:cNvPr id="7" name="Text 5"/>
          <p:cNvSpPr/>
          <p:nvPr/>
        </p:nvSpPr>
        <p:spPr>
          <a:xfrm>
            <a:off x="621792" y="1618488"/>
            <a:ext cx="3886200" cy="384048"/>
          </a:xfrm>
          <a:prstGeom prst="rect">
            <a:avLst/>
          </a:prstGeom>
          <a:noFill/>
          <a:ln/>
        </p:spPr>
        <p:txBody>
          <a:bodyPr wrap="square" rtlCol="0" anchor="ctr"/>
          <a:lstStyle/>
          <a:p>
            <a:pPr marL="0" indent="0">
              <a:buNone/>
            </a:pPr>
            <a:r>
              <a:rPr lang="en-US" sz="1050" dirty="0">
                <a:solidFill>
                  <a:srgbClr val="4A7C59"/>
                </a:solidFill>
                <a:latin typeface="Calibri" pitchFamily="34" charset="0"/>
                <a:ea typeface="Calibri" pitchFamily="34" charset="-122"/>
                <a:cs typeface="Calibri" pitchFamily="34" charset="-120"/>
              </a:rPr>
              <a:t>✔ Missing values filled with 'Unknown' to preserve the record without fabricating data.</a:t>
            </a:r>
            <a:endParaRPr lang="en-US" sz="1050" dirty="0"/>
          </a:p>
        </p:txBody>
      </p:sp>
      <p:sp>
        <p:nvSpPr>
          <p:cNvPr id="8" name="Shape 6"/>
          <p:cNvSpPr/>
          <p:nvPr/>
        </p:nvSpPr>
        <p:spPr>
          <a:xfrm>
            <a:off x="457200" y="2148840"/>
            <a:ext cx="4114800" cy="1170432"/>
          </a:xfrm>
          <a:prstGeom prst="rect">
            <a:avLst/>
          </a:prstGeom>
          <a:solidFill>
            <a:srgbClr val="FBF6F1"/>
          </a:solidFill>
          <a:ln w="12700">
            <a:solidFill>
              <a:srgbClr val="D6C5B8"/>
            </a:solidFill>
            <a:prstDash val="solid"/>
          </a:ln>
        </p:spPr>
      </p:sp>
      <p:sp>
        <p:nvSpPr>
          <p:cNvPr id="9" name="Shape 7"/>
          <p:cNvSpPr/>
          <p:nvPr/>
        </p:nvSpPr>
        <p:spPr>
          <a:xfrm>
            <a:off x="457200" y="2148840"/>
            <a:ext cx="82296" cy="1170432"/>
          </a:xfrm>
          <a:prstGeom prst="rect">
            <a:avLst/>
          </a:prstGeom>
          <a:solidFill>
            <a:srgbClr val="B85042"/>
          </a:solidFill>
          <a:ln w="12700">
            <a:solidFill>
              <a:srgbClr val="B85042"/>
            </a:solidFill>
            <a:prstDash val="solid"/>
          </a:ln>
        </p:spPr>
      </p:sp>
      <p:sp>
        <p:nvSpPr>
          <p:cNvPr id="10" name="Text 8"/>
          <p:cNvSpPr/>
          <p:nvPr/>
        </p:nvSpPr>
        <p:spPr>
          <a:xfrm>
            <a:off x="621792" y="2203704"/>
            <a:ext cx="388620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Missing: Type of Junction</a:t>
            </a:r>
            <a:endParaRPr lang="en-US" sz="1200" dirty="0"/>
          </a:p>
        </p:txBody>
      </p:sp>
      <p:sp>
        <p:nvSpPr>
          <p:cNvPr id="11" name="Text 9"/>
          <p:cNvSpPr/>
          <p:nvPr/>
        </p:nvSpPr>
        <p:spPr>
          <a:xfrm>
            <a:off x="621792" y="2468880"/>
            <a:ext cx="3886200" cy="384048"/>
          </a:xfrm>
          <a:prstGeom prst="rect">
            <a:avLst/>
          </a:prstGeom>
          <a:noFill/>
          <a:ln/>
        </p:spPr>
        <p:txBody>
          <a:bodyPr wrap="square" rtlCol="0" anchor="ctr"/>
          <a:lstStyle/>
          <a:p>
            <a:pPr marL="0" indent="0">
              <a:buNone/>
            </a:pPr>
            <a:r>
              <a:rPr lang="en-US" sz="1050" dirty="0">
                <a:solidFill>
                  <a:srgbClr val="8B3A2A"/>
                </a:solidFill>
                <a:latin typeface="Calibri" pitchFamily="34" charset="0"/>
                <a:ea typeface="Calibri" pitchFamily="34" charset="-122"/>
                <a:cs typeface="Calibri" pitchFamily="34" charset="-120"/>
              </a:rPr>
              <a:t>⚠ 155 records (9.6%) were missing junction type, which affects accident type classification.</a:t>
            </a:r>
            <a:endParaRPr lang="en-US" sz="1050" dirty="0"/>
          </a:p>
        </p:txBody>
      </p:sp>
      <p:sp>
        <p:nvSpPr>
          <p:cNvPr id="12" name="Text 10"/>
          <p:cNvSpPr/>
          <p:nvPr/>
        </p:nvSpPr>
        <p:spPr>
          <a:xfrm>
            <a:off x="621792" y="2852928"/>
            <a:ext cx="3886200" cy="384048"/>
          </a:xfrm>
          <a:prstGeom prst="rect">
            <a:avLst/>
          </a:prstGeom>
          <a:noFill/>
          <a:ln/>
        </p:spPr>
        <p:txBody>
          <a:bodyPr wrap="square" rtlCol="0" anchor="ctr"/>
          <a:lstStyle/>
          <a:p>
            <a:pPr marL="0" indent="0">
              <a:buNone/>
            </a:pPr>
            <a:r>
              <a:rPr lang="en-US" sz="1050" dirty="0">
                <a:solidFill>
                  <a:srgbClr val="4A7C59"/>
                </a:solidFill>
                <a:latin typeface="Calibri" pitchFamily="34" charset="0"/>
                <a:ea typeface="Calibri" pitchFamily="34" charset="-122"/>
                <a:cs typeface="Calibri" pitchFamily="34" charset="-120"/>
              </a:rPr>
              <a:t>✔ Filled with 'Unknown' — a neutral category that avoids biasing the distribution.</a:t>
            </a:r>
            <a:endParaRPr lang="en-US" sz="1050" dirty="0"/>
          </a:p>
        </p:txBody>
      </p:sp>
      <p:sp>
        <p:nvSpPr>
          <p:cNvPr id="13" name="Shape 11"/>
          <p:cNvSpPr/>
          <p:nvPr/>
        </p:nvSpPr>
        <p:spPr>
          <a:xfrm>
            <a:off x="457200" y="3383280"/>
            <a:ext cx="4114800" cy="1170432"/>
          </a:xfrm>
          <a:prstGeom prst="rect">
            <a:avLst/>
          </a:prstGeom>
          <a:solidFill>
            <a:srgbClr val="FBF6F1"/>
          </a:solidFill>
          <a:ln w="12700">
            <a:solidFill>
              <a:srgbClr val="D6C5B8"/>
            </a:solidFill>
            <a:prstDash val="solid"/>
          </a:ln>
        </p:spPr>
      </p:sp>
      <p:sp>
        <p:nvSpPr>
          <p:cNvPr id="14" name="Shape 12"/>
          <p:cNvSpPr/>
          <p:nvPr/>
        </p:nvSpPr>
        <p:spPr>
          <a:xfrm>
            <a:off x="457200" y="3383280"/>
            <a:ext cx="82296" cy="1170432"/>
          </a:xfrm>
          <a:prstGeom prst="rect">
            <a:avLst/>
          </a:prstGeom>
          <a:solidFill>
            <a:srgbClr val="B85042"/>
          </a:solidFill>
          <a:ln w="12700">
            <a:solidFill>
              <a:srgbClr val="B85042"/>
            </a:solidFill>
            <a:prstDash val="solid"/>
          </a:ln>
        </p:spPr>
      </p:sp>
      <p:sp>
        <p:nvSpPr>
          <p:cNvPr id="15" name="Text 13"/>
          <p:cNvSpPr/>
          <p:nvPr/>
        </p:nvSpPr>
        <p:spPr>
          <a:xfrm>
            <a:off x="621792" y="3438144"/>
            <a:ext cx="388620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Missing: Speed Limit &amp; Vehicle Speed</a:t>
            </a:r>
            <a:endParaRPr lang="en-US" sz="1200" dirty="0"/>
          </a:p>
        </p:txBody>
      </p:sp>
      <p:sp>
        <p:nvSpPr>
          <p:cNvPr id="16" name="Text 14"/>
          <p:cNvSpPr/>
          <p:nvPr/>
        </p:nvSpPr>
        <p:spPr>
          <a:xfrm>
            <a:off x="621792" y="3703320"/>
            <a:ext cx="3886200" cy="384048"/>
          </a:xfrm>
          <a:prstGeom prst="rect">
            <a:avLst/>
          </a:prstGeom>
          <a:noFill/>
          <a:ln/>
        </p:spPr>
        <p:txBody>
          <a:bodyPr wrap="square" rtlCol="0" anchor="ctr"/>
          <a:lstStyle/>
          <a:p>
            <a:pPr marL="0" indent="0">
              <a:buNone/>
            </a:pPr>
            <a:r>
              <a:rPr lang="en-US" sz="1050" dirty="0">
                <a:solidFill>
                  <a:srgbClr val="8B3A2A"/>
                </a:solidFill>
                <a:latin typeface="Calibri" pitchFamily="34" charset="0"/>
                <a:ea typeface="Calibri" pitchFamily="34" charset="-122"/>
                <a:cs typeface="Calibri" pitchFamily="34" charset="-120"/>
              </a:rPr>
              <a:t>⚠ 153 Speed Limit and 177 Vehicle Speed values were blank — both numerical columns.</a:t>
            </a:r>
            <a:endParaRPr lang="en-US" sz="1050" dirty="0"/>
          </a:p>
        </p:txBody>
      </p:sp>
      <p:sp>
        <p:nvSpPr>
          <p:cNvPr id="17" name="Text 15"/>
          <p:cNvSpPr/>
          <p:nvPr/>
        </p:nvSpPr>
        <p:spPr>
          <a:xfrm>
            <a:off x="621792" y="4087368"/>
            <a:ext cx="3886200" cy="384048"/>
          </a:xfrm>
          <a:prstGeom prst="rect">
            <a:avLst/>
          </a:prstGeom>
          <a:noFill/>
          <a:ln/>
        </p:spPr>
        <p:txBody>
          <a:bodyPr wrap="square" rtlCol="0" anchor="ctr"/>
          <a:lstStyle/>
          <a:p>
            <a:pPr marL="0" indent="0">
              <a:buNone/>
            </a:pPr>
            <a:r>
              <a:rPr lang="en-US" sz="1050" dirty="0">
                <a:solidFill>
                  <a:srgbClr val="4A7C59"/>
                </a:solidFill>
                <a:latin typeface="Calibri" pitchFamily="34" charset="0"/>
                <a:ea typeface="Calibri" pitchFamily="34" charset="-122"/>
                <a:cs typeface="Calibri" pitchFamily="34" charset="-120"/>
              </a:rPr>
              <a:t>✔ Replaced with the median value (robust to outliers, avoids distorting the distribution).</a:t>
            </a:r>
            <a:endParaRPr lang="en-US" sz="1050" dirty="0"/>
          </a:p>
        </p:txBody>
      </p:sp>
      <p:sp>
        <p:nvSpPr>
          <p:cNvPr id="18" name="Shape 16"/>
          <p:cNvSpPr/>
          <p:nvPr/>
        </p:nvSpPr>
        <p:spPr>
          <a:xfrm>
            <a:off x="4754880" y="914400"/>
            <a:ext cx="4114800" cy="1170432"/>
          </a:xfrm>
          <a:prstGeom prst="rect">
            <a:avLst/>
          </a:prstGeom>
          <a:solidFill>
            <a:srgbClr val="FBF6F1"/>
          </a:solidFill>
          <a:ln w="12700">
            <a:solidFill>
              <a:srgbClr val="D6C5B8"/>
            </a:solidFill>
            <a:prstDash val="solid"/>
          </a:ln>
        </p:spPr>
      </p:sp>
      <p:sp>
        <p:nvSpPr>
          <p:cNvPr id="19" name="Shape 17"/>
          <p:cNvSpPr/>
          <p:nvPr/>
        </p:nvSpPr>
        <p:spPr>
          <a:xfrm>
            <a:off x="4754880" y="914400"/>
            <a:ext cx="82296" cy="1170432"/>
          </a:xfrm>
          <a:prstGeom prst="rect">
            <a:avLst/>
          </a:prstGeom>
          <a:solidFill>
            <a:srgbClr val="B85042"/>
          </a:solidFill>
          <a:ln w="12700">
            <a:solidFill>
              <a:srgbClr val="B85042"/>
            </a:solidFill>
            <a:prstDash val="solid"/>
          </a:ln>
        </p:spPr>
      </p:sp>
      <p:sp>
        <p:nvSpPr>
          <p:cNvPr id="20" name="Text 18"/>
          <p:cNvSpPr/>
          <p:nvPr/>
        </p:nvSpPr>
        <p:spPr>
          <a:xfrm>
            <a:off x="4919472" y="969264"/>
            <a:ext cx="388620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Missing: Road Width &amp; Emergency Response Time</a:t>
            </a:r>
            <a:endParaRPr lang="en-US" sz="1200" dirty="0"/>
          </a:p>
        </p:txBody>
      </p:sp>
      <p:sp>
        <p:nvSpPr>
          <p:cNvPr id="21" name="Text 19"/>
          <p:cNvSpPr/>
          <p:nvPr/>
        </p:nvSpPr>
        <p:spPr>
          <a:xfrm>
            <a:off x="4919472" y="1234440"/>
            <a:ext cx="3886200" cy="384048"/>
          </a:xfrm>
          <a:prstGeom prst="rect">
            <a:avLst/>
          </a:prstGeom>
          <a:noFill/>
          <a:ln/>
        </p:spPr>
        <p:txBody>
          <a:bodyPr wrap="square" rtlCol="0" anchor="ctr"/>
          <a:lstStyle/>
          <a:p>
            <a:pPr marL="0" indent="0">
              <a:buNone/>
            </a:pPr>
            <a:r>
              <a:rPr lang="en-US" sz="1050" dirty="0">
                <a:solidFill>
                  <a:srgbClr val="8B3A2A"/>
                </a:solidFill>
                <a:latin typeface="Calibri" pitchFamily="34" charset="0"/>
                <a:ea typeface="Calibri" pitchFamily="34" charset="-122"/>
                <a:cs typeface="Calibri" pitchFamily="34" charset="-120"/>
              </a:rPr>
              <a:t>⚠ 157 Road Width and 166 Emergency Response Time values were missing.</a:t>
            </a:r>
            <a:endParaRPr lang="en-US" sz="1050" dirty="0"/>
          </a:p>
        </p:txBody>
      </p:sp>
      <p:sp>
        <p:nvSpPr>
          <p:cNvPr id="22" name="Text 20"/>
          <p:cNvSpPr/>
          <p:nvPr/>
        </p:nvSpPr>
        <p:spPr>
          <a:xfrm>
            <a:off x="4919472" y="1618488"/>
            <a:ext cx="3886200" cy="384048"/>
          </a:xfrm>
          <a:prstGeom prst="rect">
            <a:avLst/>
          </a:prstGeom>
          <a:noFill/>
          <a:ln/>
        </p:spPr>
        <p:txBody>
          <a:bodyPr wrap="square" rtlCol="0" anchor="ctr"/>
          <a:lstStyle/>
          <a:p>
            <a:pPr marL="0" indent="0">
              <a:buNone/>
            </a:pPr>
            <a:r>
              <a:rPr lang="en-US" sz="1050" dirty="0">
                <a:solidFill>
                  <a:srgbClr val="4A7C59"/>
                </a:solidFill>
                <a:latin typeface="Calibri" pitchFamily="34" charset="0"/>
                <a:ea typeface="Calibri" pitchFamily="34" charset="-122"/>
                <a:cs typeface="Calibri" pitchFamily="34" charset="-120"/>
              </a:rPr>
              <a:t>✔ Filled with median values — median is the best fit for right-skewed distributions.</a:t>
            </a:r>
            <a:endParaRPr lang="en-US" sz="1050" dirty="0"/>
          </a:p>
        </p:txBody>
      </p:sp>
      <p:sp>
        <p:nvSpPr>
          <p:cNvPr id="23" name="Shape 21"/>
          <p:cNvSpPr/>
          <p:nvPr/>
        </p:nvSpPr>
        <p:spPr>
          <a:xfrm>
            <a:off x="4754880" y="2148840"/>
            <a:ext cx="4114800" cy="1170432"/>
          </a:xfrm>
          <a:prstGeom prst="rect">
            <a:avLst/>
          </a:prstGeom>
          <a:solidFill>
            <a:srgbClr val="FBF6F1"/>
          </a:solidFill>
          <a:ln w="12700">
            <a:solidFill>
              <a:srgbClr val="D6C5B8"/>
            </a:solidFill>
            <a:prstDash val="solid"/>
          </a:ln>
        </p:spPr>
      </p:sp>
      <p:sp>
        <p:nvSpPr>
          <p:cNvPr id="24" name="Shape 22"/>
          <p:cNvSpPr/>
          <p:nvPr/>
        </p:nvSpPr>
        <p:spPr>
          <a:xfrm>
            <a:off x="4754880" y="2148840"/>
            <a:ext cx="82296" cy="1170432"/>
          </a:xfrm>
          <a:prstGeom prst="rect">
            <a:avLst/>
          </a:prstGeom>
          <a:solidFill>
            <a:srgbClr val="B85042"/>
          </a:solidFill>
          <a:ln w="12700">
            <a:solidFill>
              <a:srgbClr val="B85042"/>
            </a:solidFill>
            <a:prstDash val="solid"/>
          </a:ln>
        </p:spPr>
      </p:sp>
      <p:sp>
        <p:nvSpPr>
          <p:cNvPr id="25" name="Text 23"/>
          <p:cNvSpPr/>
          <p:nvPr/>
        </p:nvSpPr>
        <p:spPr>
          <a:xfrm>
            <a:off x="4919472" y="2203704"/>
            <a:ext cx="388620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Inconsistent Text Categories</a:t>
            </a:r>
            <a:endParaRPr lang="en-US" sz="1200" dirty="0"/>
          </a:p>
        </p:txBody>
      </p:sp>
      <p:sp>
        <p:nvSpPr>
          <p:cNvPr id="26" name="Text 24"/>
          <p:cNvSpPr/>
          <p:nvPr/>
        </p:nvSpPr>
        <p:spPr>
          <a:xfrm>
            <a:off x="4919472" y="2468880"/>
            <a:ext cx="3886200" cy="384048"/>
          </a:xfrm>
          <a:prstGeom prst="rect">
            <a:avLst/>
          </a:prstGeom>
          <a:noFill/>
          <a:ln/>
        </p:spPr>
        <p:txBody>
          <a:bodyPr wrap="square" rtlCol="0" anchor="ctr"/>
          <a:lstStyle/>
          <a:p>
            <a:pPr marL="0" indent="0">
              <a:buNone/>
            </a:pPr>
            <a:r>
              <a:rPr lang="en-US" sz="1050" dirty="0">
                <a:solidFill>
                  <a:srgbClr val="8B3A2A"/>
                </a:solidFill>
                <a:latin typeface="Calibri" pitchFamily="34" charset="0"/>
                <a:ea typeface="Calibri" pitchFamily="34" charset="-122"/>
                <a:cs typeface="Calibri" pitchFamily="34" charset="-120"/>
              </a:rPr>
              <a:t>⚠ Text fields had mixed casing: 'rainy' vs 'Rainy', 'STREET' vs 'Street'.</a:t>
            </a:r>
            <a:endParaRPr lang="en-US" sz="1050" dirty="0"/>
          </a:p>
        </p:txBody>
      </p:sp>
      <p:sp>
        <p:nvSpPr>
          <p:cNvPr id="27" name="Text 25"/>
          <p:cNvSpPr/>
          <p:nvPr/>
        </p:nvSpPr>
        <p:spPr>
          <a:xfrm>
            <a:off x="4919472" y="2852928"/>
            <a:ext cx="3886200" cy="384048"/>
          </a:xfrm>
          <a:prstGeom prst="rect">
            <a:avLst/>
          </a:prstGeom>
          <a:noFill/>
          <a:ln/>
        </p:spPr>
        <p:txBody>
          <a:bodyPr wrap="square" rtlCol="0" anchor="ctr"/>
          <a:lstStyle/>
          <a:p>
            <a:pPr marL="0" indent="0">
              <a:buNone/>
            </a:pPr>
            <a:r>
              <a:rPr lang="en-US" sz="1050" dirty="0">
                <a:solidFill>
                  <a:srgbClr val="4A7C59"/>
                </a:solidFill>
                <a:latin typeface="Calibri" pitchFamily="34" charset="0"/>
                <a:ea typeface="Calibri" pitchFamily="34" charset="-122"/>
                <a:cs typeface="Calibri" pitchFamily="34" charset="-120"/>
              </a:rPr>
              <a:t>✔ Applied .strip().title() to standardize all categorical text values uniformly.</a:t>
            </a:r>
            <a:endParaRPr lang="en-US" sz="1050" dirty="0"/>
          </a:p>
        </p:txBody>
      </p:sp>
      <p:sp>
        <p:nvSpPr>
          <p:cNvPr id="28" name="Shape 26"/>
          <p:cNvSpPr/>
          <p:nvPr/>
        </p:nvSpPr>
        <p:spPr>
          <a:xfrm>
            <a:off x="457200" y="4736592"/>
            <a:ext cx="8229600" cy="301752"/>
          </a:xfrm>
          <a:prstGeom prst="rect">
            <a:avLst/>
          </a:prstGeom>
          <a:solidFill>
            <a:srgbClr val="B85042"/>
          </a:solidFill>
          <a:ln w="12700">
            <a:solidFill>
              <a:srgbClr val="B85042"/>
            </a:solidFill>
            <a:prstDash val="solid"/>
          </a:ln>
        </p:spPr>
      </p:sp>
      <p:sp>
        <p:nvSpPr>
          <p:cNvPr id="29" name="Text 27"/>
          <p:cNvSpPr/>
          <p:nvPr/>
        </p:nvSpPr>
        <p:spPr>
          <a:xfrm>
            <a:off x="457200" y="4745736"/>
            <a:ext cx="8229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Result: All 957 missing values resolved across 6 columns  |  No records dropped  |  All values now clinically valid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1</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Which States Have the Most Road Accidents?</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Key Finding</a:t>
            </a:r>
            <a:endParaRPr lang="en-US" sz="1300" dirty="0"/>
          </a:p>
        </p:txBody>
      </p:sp>
      <p:sp>
        <p:nvSpPr>
          <p:cNvPr id="7" name="Text 4"/>
          <p:cNvSpPr/>
          <p:nvPr/>
        </p:nvSpPr>
        <p:spPr>
          <a:xfrm>
            <a:off x="6903720" y="1554480"/>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Hawaii leads with 47 accidents, followed by Maryland (45).
Isolating the top 10 states identifies regional hotspots where safety interventions are most needed.
A large gap between the top state and others may indicate population size or reporting bias.</a:t>
            </a:r>
            <a:endParaRPr lang="en-US" sz="1050" dirty="0"/>
          </a:p>
        </p:txBody>
      </p:sp>
      <p:pic>
        <p:nvPicPr>
          <p:cNvPr id="9" name="Picture 8" descr="A graph of a number of people">
            <a:extLst>
              <a:ext uri="{FF2B5EF4-FFF2-40B4-BE49-F238E27FC236}">
                <a16:creationId xmlns:a16="http://schemas.microsoft.com/office/drawing/2014/main" id="{D406CD9E-7E87-C4E9-E5E0-A27CB529A9E9}"/>
              </a:ext>
            </a:extLst>
          </p:cNvPr>
          <p:cNvPicPr>
            <a:picLocks noChangeAspect="1"/>
          </p:cNvPicPr>
          <p:nvPr/>
        </p:nvPicPr>
        <p:blipFill>
          <a:blip r:embed="rId3"/>
          <a:stretch>
            <a:fillRect/>
          </a:stretch>
        </p:blipFill>
        <p:spPr>
          <a:xfrm>
            <a:off x="454392" y="1049963"/>
            <a:ext cx="6241611" cy="38541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2a</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Does Weather Affect the Number of Casualties?</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47472"/>
          </a:xfrm>
          <a:prstGeom prst="rect">
            <a:avLst/>
          </a:prstGeom>
          <a:noFill/>
          <a:ln/>
        </p:spPr>
        <p:txBody>
          <a:bodyPr wrap="square" rtlCol="0" anchor="ctr"/>
          <a:lstStyle/>
          <a:p>
            <a:pPr marL="0" indent="0">
              <a:buNone/>
            </a:pPr>
            <a:r>
              <a:rPr lang="en-US" sz="1200" b="1" dirty="0">
                <a:solidFill>
                  <a:srgbClr val="8B3A2A"/>
                </a:solidFill>
                <a:latin typeface="Calibri" pitchFamily="34" charset="0"/>
                <a:ea typeface="Calibri" pitchFamily="34" charset="-122"/>
                <a:cs typeface="Calibri" pitchFamily="34" charset="-120"/>
              </a:rPr>
              <a:t>⚠ Misleading Encoding</a:t>
            </a:r>
            <a:endParaRPr lang="en-US" sz="12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Bar charts showing only the mean can be misleading.
Stormy weather appears most dangerous — but hides whether this is driven by a few extreme events or a consistent trend.
See Slide 6 (boxplot) for the full picture.</a:t>
            </a:r>
            <a:endParaRPr lang="en-US" sz="1050" dirty="0"/>
          </a:p>
        </p:txBody>
      </p:sp>
      <p:pic>
        <p:nvPicPr>
          <p:cNvPr id="10" name="Picture 9">
            <a:extLst>
              <a:ext uri="{FF2B5EF4-FFF2-40B4-BE49-F238E27FC236}">
                <a16:creationId xmlns:a16="http://schemas.microsoft.com/office/drawing/2014/main" id="{D20DBA34-2A90-4934-87BE-DAAC717A9816}"/>
              </a:ext>
            </a:extLst>
          </p:cNvPr>
          <p:cNvPicPr>
            <a:picLocks noChangeAspect="1"/>
          </p:cNvPicPr>
          <p:nvPr/>
        </p:nvPicPr>
        <p:blipFill>
          <a:blip r:embed="rId3"/>
          <a:stretch>
            <a:fillRect/>
          </a:stretch>
        </p:blipFill>
        <p:spPr>
          <a:xfrm>
            <a:off x="454498" y="985837"/>
            <a:ext cx="6313335" cy="38576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2b</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Casualties Vary Widely — Regardless of Weather</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Key Finding</a:t>
            </a:r>
            <a:endParaRPr lang="en-US" sz="13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The boxplot reveals that casualties range from 0 to 3+ across ALL weather types.
Weather conditions do not make individual accidents significantly more deadly.
This prevents the viewer from mistaking the average for the full story.</a:t>
            </a:r>
            <a:endParaRPr lang="en-US" sz="1050" dirty="0"/>
          </a:p>
        </p:txBody>
      </p:sp>
      <p:pic>
        <p:nvPicPr>
          <p:cNvPr id="8" name="Picture 7">
            <a:extLst>
              <a:ext uri="{FF2B5EF4-FFF2-40B4-BE49-F238E27FC236}">
                <a16:creationId xmlns:a16="http://schemas.microsoft.com/office/drawing/2014/main" id="{6560002D-2BCF-C180-22EB-A5422953F88A}"/>
              </a:ext>
            </a:extLst>
          </p:cNvPr>
          <p:cNvPicPr>
            <a:picLocks noChangeAspect="1"/>
          </p:cNvPicPr>
          <p:nvPr/>
        </p:nvPicPr>
        <p:blipFill>
          <a:blip r:embed="rId3"/>
          <a:stretch>
            <a:fillRect/>
          </a:stretch>
        </p:blipFill>
        <p:spPr>
          <a:xfrm>
            <a:off x="454441" y="1100136"/>
            <a:ext cx="6213437" cy="39147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3</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Vehicle Speed Variability per Road Type</a:t>
            </a:r>
            <a:endParaRPr lang="en-US" sz="2600" dirty="0"/>
          </a:p>
        </p:txBody>
      </p:sp>
      <p:sp>
        <p:nvSpPr>
          <p:cNvPr id="5" name="Shape 2"/>
          <p:cNvSpPr/>
          <p:nvPr/>
        </p:nvSpPr>
        <p:spPr>
          <a:xfrm>
            <a:off x="6764965" y="1150443"/>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Key Finding</a:t>
            </a:r>
            <a:endParaRPr lang="en-US" sz="13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Highways have the highest median speeds — expected.
Rural roads show surprisingly similar median speeds to Highways.
Street (urban) speeds are the most consistent — likely due to traffic signals and congestion.</a:t>
            </a:r>
            <a:endParaRPr lang="en-US" sz="1050" dirty="0"/>
          </a:p>
        </p:txBody>
      </p:sp>
      <p:pic>
        <p:nvPicPr>
          <p:cNvPr id="9" name="Picture 8">
            <a:extLst>
              <a:ext uri="{FF2B5EF4-FFF2-40B4-BE49-F238E27FC236}">
                <a16:creationId xmlns:a16="http://schemas.microsoft.com/office/drawing/2014/main" id="{4EC1A6E6-D34E-9367-A909-CB2A82332B3B}"/>
              </a:ext>
            </a:extLst>
          </p:cNvPr>
          <p:cNvPicPr>
            <a:picLocks noChangeAspect="1"/>
          </p:cNvPicPr>
          <p:nvPr/>
        </p:nvPicPr>
        <p:blipFill>
          <a:blip r:embed="rId3"/>
          <a:stretch>
            <a:fillRect/>
          </a:stretch>
        </p:blipFill>
        <p:spPr>
          <a:xfrm>
            <a:off x="455560" y="1050132"/>
            <a:ext cx="6068322" cy="39504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4a</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Road Conditions and Average Casualties</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Trend</a:t>
            </a:r>
            <a:endParaRPr lang="en-US" sz="13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Casualties rise as road conditions worsen from Dry → Wet → Muddy → Icy → Snowy.
Lower road friction directly corresponds to higher injury counts.
Snowy and Icy roads represent the highest-risk conditions in the dataset.</a:t>
            </a:r>
            <a:endParaRPr lang="en-US" sz="1050" dirty="0"/>
          </a:p>
        </p:txBody>
      </p:sp>
      <p:pic>
        <p:nvPicPr>
          <p:cNvPr id="8" name="Picture 7" descr="A graph of a number of civilians&#10;&#10;AI-generated content may be incorrect.">
            <a:extLst>
              <a:ext uri="{FF2B5EF4-FFF2-40B4-BE49-F238E27FC236}">
                <a16:creationId xmlns:a16="http://schemas.microsoft.com/office/drawing/2014/main" id="{0D7F1845-FFA8-A807-647E-524A1C03CB88}"/>
              </a:ext>
            </a:extLst>
          </p:cNvPr>
          <p:cNvPicPr>
            <a:picLocks noChangeAspect="1"/>
          </p:cNvPicPr>
          <p:nvPr/>
        </p:nvPicPr>
        <p:blipFill>
          <a:blip r:embed="rId3"/>
          <a:stretch>
            <a:fillRect/>
          </a:stretch>
        </p:blipFill>
        <p:spPr>
          <a:xfrm>
            <a:off x="148126" y="985837"/>
            <a:ext cx="6561748" cy="40147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lIns="91440" tIns="45720" rIns="91440" bIns="45720" rtlCol="0" anchor="ctr"/>
          <a:lstStyle/>
          <a:p>
            <a:pPr marL="0" indent="0">
              <a:buNone/>
            </a:pPr>
            <a:endParaRPr lang="en-US" sz="1300" b="1" dirty="0">
              <a:solidFill>
                <a:srgbClr val="7A8694"/>
              </a:solidFill>
              <a:ea typeface="Calibri"/>
              <a:cs typeface="Calibri"/>
            </a:endParaRPr>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Casualties Variability by Road Conditions</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Pattern</a:t>
            </a:r>
            <a:endParaRPr lang="en-US" sz="13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Each condition has a similar number of records — averages are comparable.
Spread in the boxplot confirms the trend seen in the bar chart: icy/snowy roads produce both higher medians and more extreme outcomes.</a:t>
            </a:r>
            <a:endParaRPr lang="en-US" sz="1050" dirty="0"/>
          </a:p>
        </p:txBody>
      </p:sp>
      <p:pic>
        <p:nvPicPr>
          <p:cNvPr id="10" name="Picture 9">
            <a:extLst>
              <a:ext uri="{FF2B5EF4-FFF2-40B4-BE49-F238E27FC236}">
                <a16:creationId xmlns:a16="http://schemas.microsoft.com/office/drawing/2014/main" id="{8AFA8AEE-C585-CA56-3F02-CC84D913B295}"/>
              </a:ext>
            </a:extLst>
          </p:cNvPr>
          <p:cNvPicPr>
            <a:picLocks noChangeAspect="1"/>
          </p:cNvPicPr>
          <p:nvPr/>
        </p:nvPicPr>
        <p:blipFill>
          <a:blip r:embed="rId3"/>
          <a:stretch>
            <a:fillRect/>
          </a:stretch>
        </p:blipFill>
        <p:spPr>
          <a:xfrm>
            <a:off x="274409" y="1050131"/>
            <a:ext cx="6387762" cy="40719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5</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Average Casualties by Driver Age Group</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Trend</a:t>
            </a:r>
            <a:endParaRPr lang="en-US" sz="13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Clear upward trend from Teenager → Young Adult → Adult → Senior.
Adult and Senior bars are very close in height — suggesting severity levels off once drivers reach maturity.
Senior drivers produce the highest average casualties per accident.</a:t>
            </a:r>
            <a:endParaRPr lang="en-US" sz="1050" dirty="0"/>
          </a:p>
        </p:txBody>
      </p:sp>
      <p:pic>
        <p:nvPicPr>
          <p:cNvPr id="8" name="Picture 7" descr="A graph of a number of people with purple rectangles&#10;&#10;AI-generated content may be incorrect.">
            <a:extLst>
              <a:ext uri="{FF2B5EF4-FFF2-40B4-BE49-F238E27FC236}">
                <a16:creationId xmlns:a16="http://schemas.microsoft.com/office/drawing/2014/main" id="{C96EE850-88ED-41B5-F358-102DD8EC3856}"/>
              </a:ext>
            </a:extLst>
          </p:cNvPr>
          <p:cNvPicPr>
            <a:picLocks noChangeAspect="1"/>
          </p:cNvPicPr>
          <p:nvPr/>
        </p:nvPicPr>
        <p:blipFill>
          <a:blip r:embed="rId3"/>
          <a:stretch>
            <a:fillRect/>
          </a:stretch>
        </p:blipFill>
        <p:spPr>
          <a:xfrm>
            <a:off x="233265" y="1035843"/>
            <a:ext cx="6448619" cy="39147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marL="0" indent="0">
              <a:buNone/>
            </a:pPr>
            <a:r>
              <a:rPr lang="en-US" sz="1300" b="1" dirty="0">
                <a:solidFill>
                  <a:srgbClr val="7A8694"/>
                </a:solidFill>
                <a:latin typeface="Calibri" pitchFamily="34" charset="0"/>
                <a:ea typeface="Calibri" pitchFamily="34" charset="-122"/>
                <a:cs typeface="Calibri" pitchFamily="34" charset="-120"/>
              </a:rPr>
              <a:t>Visualization 6</a:t>
            </a:r>
            <a:endParaRPr lang="en-US" sz="13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2600" b="1" dirty="0">
                <a:solidFill>
                  <a:srgbClr val="B85042"/>
                </a:solidFill>
                <a:latin typeface="Calibri" pitchFamily="34" charset="0"/>
                <a:ea typeface="Calibri" pitchFamily="34" charset="-122"/>
                <a:cs typeface="Calibri" pitchFamily="34" charset="-120"/>
              </a:rPr>
              <a:t>Vehicles Involved and Casualties by Light Conditions</a:t>
            </a:r>
            <a:endParaRPr lang="en-US" sz="2600" dirty="0"/>
          </a:p>
        </p:txBody>
      </p:sp>
      <p:sp>
        <p:nvSpPr>
          <p:cNvPr id="5" name="Shape 2"/>
          <p:cNvSpPr/>
          <p:nvPr/>
        </p:nvSpPr>
        <p:spPr>
          <a:xfrm>
            <a:off x="6858000" y="1097280"/>
            <a:ext cx="1828800" cy="3749040"/>
          </a:xfrm>
          <a:prstGeom prst="rect">
            <a:avLst/>
          </a:prstGeom>
          <a:solidFill>
            <a:srgbClr val="FBF6F1"/>
          </a:solidFill>
          <a:ln w="12700">
            <a:solidFill>
              <a:srgbClr val="D6C5B8"/>
            </a:solidFill>
            <a:prstDash val="solid"/>
          </a:ln>
        </p:spPr>
      </p:sp>
      <p:sp>
        <p:nvSpPr>
          <p:cNvPr id="6" name="Text 3"/>
          <p:cNvSpPr/>
          <p:nvPr/>
        </p:nvSpPr>
        <p:spPr>
          <a:xfrm>
            <a:off x="6903720" y="1188720"/>
            <a:ext cx="173736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Key Finding</a:t>
            </a:r>
            <a:endParaRPr lang="en-US" sz="1300" dirty="0"/>
          </a:p>
        </p:txBody>
      </p:sp>
      <p:sp>
        <p:nvSpPr>
          <p:cNvPr id="7" name="Text 4"/>
          <p:cNvSpPr/>
          <p:nvPr/>
        </p:nvSpPr>
        <p:spPr>
          <a:xfrm>
            <a:off x="6903720" y="1572768"/>
            <a:ext cx="1691640" cy="3108960"/>
          </a:xfrm>
          <a:prstGeom prst="rect">
            <a:avLst/>
          </a:prstGeom>
          <a:noFill/>
          <a:ln/>
        </p:spPr>
        <p:txBody>
          <a:bodyPr wrap="square" rtlCol="0" anchor="ctr"/>
          <a:lstStyle/>
          <a:p>
            <a:pPr marL="0" indent="0">
              <a:buNone/>
            </a:pPr>
            <a:r>
              <a:rPr lang="en-US" sz="1050" dirty="0">
                <a:solidFill>
                  <a:srgbClr val="2B2D2F"/>
                </a:solidFill>
                <a:latin typeface="Calibri" pitchFamily="34" charset="0"/>
                <a:ea typeface="Calibri" pitchFamily="34" charset="-122"/>
                <a:cs typeface="Calibri" pitchFamily="34" charset="-120"/>
              </a:rPr>
              <a:t>Night accidents involve fewer vehicles but result in higher casualties — increased severity in darkness.
Daylight and Dawn see more vehicles involved but lower casualty rates.
Across all conditions, vehicles involved ≈ 2× casualties — a consistent pattern.</a:t>
            </a:r>
            <a:endParaRPr lang="en-US" sz="1050" dirty="0"/>
          </a:p>
        </p:txBody>
      </p:sp>
      <p:pic>
        <p:nvPicPr>
          <p:cNvPr id="8" name="Picture 7" descr="A graph of a number of vehicles involved and civilians&#10;&#10;AI-generated content may be incorrect.">
            <a:extLst>
              <a:ext uri="{FF2B5EF4-FFF2-40B4-BE49-F238E27FC236}">
                <a16:creationId xmlns:a16="http://schemas.microsoft.com/office/drawing/2014/main" id="{31C28976-FC89-7954-16FD-0751DABA655A}"/>
              </a:ext>
            </a:extLst>
          </p:cNvPr>
          <p:cNvPicPr>
            <a:picLocks noChangeAspect="1"/>
          </p:cNvPicPr>
          <p:nvPr/>
        </p:nvPicPr>
        <p:blipFill>
          <a:blip r:embed="rId3"/>
          <a:stretch>
            <a:fillRect/>
          </a:stretch>
        </p:blipFill>
        <p:spPr>
          <a:xfrm>
            <a:off x="171970" y="1042986"/>
            <a:ext cx="6585495" cy="3857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A"/>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rtlCol="0" anchor="ctr"/>
          <a:lstStyle/>
          <a:p>
            <a:pPr marL="0" indent="0">
              <a:buNone/>
            </a:pPr>
            <a:r>
              <a:rPr lang="en-US" sz="3400" b="1" dirty="0">
                <a:solidFill>
                  <a:srgbClr val="B85042"/>
                </a:solidFill>
                <a:latin typeface="Calibri" pitchFamily="34" charset="0"/>
                <a:ea typeface="Calibri" pitchFamily="34" charset="-122"/>
                <a:cs typeface="Calibri" pitchFamily="34" charset="-120"/>
              </a:rPr>
              <a:t>Key Insights</a:t>
            </a:r>
            <a:endParaRPr lang="en-US" sz="34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300" i="1" dirty="0">
                <a:solidFill>
                  <a:srgbClr val="7A8694"/>
                </a:solidFill>
                <a:latin typeface="Calibri" pitchFamily="34" charset="0"/>
                <a:ea typeface="Calibri" pitchFamily="34" charset="-122"/>
                <a:cs typeface="Calibri" pitchFamily="34" charset="-120"/>
              </a:rPr>
              <a:t>What the data tells us about road accident risk</a:t>
            </a:r>
            <a:endParaRPr lang="en-US" sz="1300" dirty="0"/>
          </a:p>
        </p:txBody>
      </p:sp>
      <p:sp>
        <p:nvSpPr>
          <p:cNvPr id="4" name="Shape 2"/>
          <p:cNvSpPr/>
          <p:nvPr/>
        </p:nvSpPr>
        <p:spPr>
          <a:xfrm>
            <a:off x="457200" y="1078992"/>
            <a:ext cx="2651760" cy="1664208"/>
          </a:xfrm>
          <a:prstGeom prst="rect">
            <a:avLst/>
          </a:prstGeom>
          <a:solidFill>
            <a:srgbClr val="FBF6F1"/>
          </a:solidFill>
          <a:ln w="12700">
            <a:solidFill>
              <a:srgbClr val="D6C5B8"/>
            </a:solidFill>
            <a:prstDash val="solid"/>
          </a:ln>
        </p:spPr>
      </p:sp>
      <p:sp>
        <p:nvSpPr>
          <p:cNvPr id="5" name="Shape 3"/>
          <p:cNvSpPr/>
          <p:nvPr/>
        </p:nvSpPr>
        <p:spPr>
          <a:xfrm>
            <a:off x="457200" y="1078992"/>
            <a:ext cx="2651760" cy="329184"/>
          </a:xfrm>
          <a:prstGeom prst="rect">
            <a:avLst/>
          </a:prstGeom>
          <a:solidFill>
            <a:srgbClr val="B85042"/>
          </a:solidFill>
          <a:ln w="12700">
            <a:solidFill>
              <a:srgbClr val="B85042"/>
            </a:solidFill>
            <a:prstDash val="solid"/>
          </a:ln>
        </p:spPr>
      </p:sp>
      <p:sp>
        <p:nvSpPr>
          <p:cNvPr id="6" name="Text 4"/>
          <p:cNvSpPr/>
          <p:nvPr/>
        </p:nvSpPr>
        <p:spPr>
          <a:xfrm>
            <a:off x="548640" y="1115568"/>
            <a:ext cx="24688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Geographic Hotspots</a:t>
            </a:r>
            <a:endParaRPr lang="en-US" sz="1200" dirty="0"/>
          </a:p>
        </p:txBody>
      </p:sp>
      <p:sp>
        <p:nvSpPr>
          <p:cNvPr id="7" name="Text 5"/>
          <p:cNvSpPr/>
          <p:nvPr/>
        </p:nvSpPr>
        <p:spPr>
          <a:xfrm>
            <a:off x="548640" y="1463040"/>
            <a:ext cx="2487168" cy="120700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Hawaii and Maryland lead with the highest accident counts, suggesting regional infrastructure or reporting differences.</a:t>
            </a:r>
            <a:endParaRPr lang="en-US" sz="1100" dirty="0"/>
          </a:p>
        </p:txBody>
      </p:sp>
      <p:sp>
        <p:nvSpPr>
          <p:cNvPr id="8" name="Shape 6"/>
          <p:cNvSpPr/>
          <p:nvPr/>
        </p:nvSpPr>
        <p:spPr>
          <a:xfrm>
            <a:off x="3246120" y="1078992"/>
            <a:ext cx="2651760" cy="1664208"/>
          </a:xfrm>
          <a:prstGeom prst="rect">
            <a:avLst/>
          </a:prstGeom>
          <a:solidFill>
            <a:srgbClr val="FBF6F1"/>
          </a:solidFill>
          <a:ln w="12700">
            <a:solidFill>
              <a:srgbClr val="D6C5B8"/>
            </a:solidFill>
            <a:prstDash val="solid"/>
          </a:ln>
        </p:spPr>
      </p:sp>
      <p:sp>
        <p:nvSpPr>
          <p:cNvPr id="9" name="Shape 7"/>
          <p:cNvSpPr/>
          <p:nvPr/>
        </p:nvSpPr>
        <p:spPr>
          <a:xfrm>
            <a:off x="3246120" y="1078992"/>
            <a:ext cx="2651760" cy="329184"/>
          </a:xfrm>
          <a:prstGeom prst="rect">
            <a:avLst/>
          </a:prstGeom>
          <a:solidFill>
            <a:srgbClr val="B85042"/>
          </a:solidFill>
          <a:ln w="12700">
            <a:solidFill>
              <a:srgbClr val="B85042"/>
            </a:solidFill>
            <a:prstDash val="solid"/>
          </a:ln>
        </p:spPr>
      </p:sp>
      <p:sp>
        <p:nvSpPr>
          <p:cNvPr id="10" name="Text 8"/>
          <p:cNvSpPr/>
          <p:nvPr/>
        </p:nvSpPr>
        <p:spPr>
          <a:xfrm>
            <a:off x="3337560" y="1115568"/>
            <a:ext cx="24688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  Weather ≠ More Deaths</a:t>
            </a:r>
            <a:endParaRPr lang="en-US" sz="1200" dirty="0"/>
          </a:p>
        </p:txBody>
      </p:sp>
      <p:sp>
        <p:nvSpPr>
          <p:cNvPr id="11" name="Text 9"/>
          <p:cNvSpPr/>
          <p:nvPr/>
        </p:nvSpPr>
        <p:spPr>
          <a:xfrm>
            <a:off x="3337560" y="1463040"/>
            <a:ext cx="2487168" cy="120700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Despite expectations, weather type doesn't significantly change casualty counts per incident — the full spread is similar across all weather.</a:t>
            </a:r>
            <a:endParaRPr lang="en-US" sz="1100" dirty="0"/>
          </a:p>
        </p:txBody>
      </p:sp>
      <p:sp>
        <p:nvSpPr>
          <p:cNvPr id="12" name="Shape 10"/>
          <p:cNvSpPr/>
          <p:nvPr/>
        </p:nvSpPr>
        <p:spPr>
          <a:xfrm>
            <a:off x="6035040" y="1078992"/>
            <a:ext cx="2651760" cy="1664208"/>
          </a:xfrm>
          <a:prstGeom prst="rect">
            <a:avLst/>
          </a:prstGeom>
          <a:solidFill>
            <a:srgbClr val="FBF6F1"/>
          </a:solidFill>
          <a:ln w="12700">
            <a:solidFill>
              <a:srgbClr val="D6C5B8"/>
            </a:solidFill>
            <a:prstDash val="solid"/>
          </a:ln>
        </p:spPr>
      </p:sp>
      <p:sp>
        <p:nvSpPr>
          <p:cNvPr id="13" name="Shape 11"/>
          <p:cNvSpPr/>
          <p:nvPr/>
        </p:nvSpPr>
        <p:spPr>
          <a:xfrm>
            <a:off x="6035040" y="1078992"/>
            <a:ext cx="2651760" cy="329184"/>
          </a:xfrm>
          <a:prstGeom prst="rect">
            <a:avLst/>
          </a:prstGeom>
          <a:solidFill>
            <a:srgbClr val="B85042"/>
          </a:solidFill>
          <a:ln w="12700">
            <a:solidFill>
              <a:srgbClr val="B85042"/>
            </a:solidFill>
            <a:prstDash val="solid"/>
          </a:ln>
        </p:spPr>
      </p:sp>
      <p:sp>
        <p:nvSpPr>
          <p:cNvPr id="14" name="Text 12"/>
          <p:cNvSpPr/>
          <p:nvPr/>
        </p:nvSpPr>
        <p:spPr>
          <a:xfrm>
            <a:off x="6126480" y="1115568"/>
            <a:ext cx="24688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  Road Conditions Matter</a:t>
            </a:r>
            <a:endParaRPr lang="en-US" sz="1200" dirty="0"/>
          </a:p>
        </p:txBody>
      </p:sp>
      <p:sp>
        <p:nvSpPr>
          <p:cNvPr id="15" name="Text 13"/>
          <p:cNvSpPr/>
          <p:nvPr/>
        </p:nvSpPr>
        <p:spPr>
          <a:xfrm>
            <a:off x="6126480" y="1463040"/>
            <a:ext cx="2487168" cy="120700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Snowy and icy roads clearly produce more casualties on average. Lower friction = higher severity.</a:t>
            </a:r>
            <a:endParaRPr lang="en-US" sz="1100" dirty="0"/>
          </a:p>
        </p:txBody>
      </p:sp>
      <p:sp>
        <p:nvSpPr>
          <p:cNvPr id="16" name="Shape 14"/>
          <p:cNvSpPr/>
          <p:nvPr/>
        </p:nvSpPr>
        <p:spPr>
          <a:xfrm>
            <a:off x="457200" y="2834640"/>
            <a:ext cx="2651760" cy="1664208"/>
          </a:xfrm>
          <a:prstGeom prst="rect">
            <a:avLst/>
          </a:prstGeom>
          <a:solidFill>
            <a:srgbClr val="FBF6F1"/>
          </a:solidFill>
          <a:ln w="12700">
            <a:solidFill>
              <a:srgbClr val="D6C5B8"/>
            </a:solidFill>
            <a:prstDash val="solid"/>
          </a:ln>
        </p:spPr>
      </p:sp>
      <p:sp>
        <p:nvSpPr>
          <p:cNvPr id="17" name="Shape 15"/>
          <p:cNvSpPr/>
          <p:nvPr/>
        </p:nvSpPr>
        <p:spPr>
          <a:xfrm>
            <a:off x="457200" y="2834640"/>
            <a:ext cx="2651760" cy="329184"/>
          </a:xfrm>
          <a:prstGeom prst="rect">
            <a:avLst/>
          </a:prstGeom>
          <a:solidFill>
            <a:srgbClr val="B85042"/>
          </a:solidFill>
          <a:ln w="12700">
            <a:solidFill>
              <a:srgbClr val="B85042"/>
            </a:solidFill>
            <a:prstDash val="solid"/>
          </a:ln>
        </p:spPr>
      </p:sp>
      <p:sp>
        <p:nvSpPr>
          <p:cNvPr id="18" name="Text 16"/>
          <p:cNvSpPr/>
          <p:nvPr/>
        </p:nvSpPr>
        <p:spPr>
          <a:xfrm>
            <a:off x="548640" y="2871216"/>
            <a:ext cx="24688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Night Drives = Danger</a:t>
            </a:r>
            <a:endParaRPr lang="en-US" sz="1200" dirty="0"/>
          </a:p>
        </p:txBody>
      </p:sp>
      <p:sp>
        <p:nvSpPr>
          <p:cNvPr id="19" name="Text 17"/>
          <p:cNvSpPr/>
          <p:nvPr/>
        </p:nvSpPr>
        <p:spPr>
          <a:xfrm>
            <a:off x="548640" y="3218688"/>
            <a:ext cx="2487168" cy="120700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Night accidents involve fewer vehicles but more casualties per incident — low visibility amplifies severity.</a:t>
            </a:r>
            <a:endParaRPr lang="en-US" sz="1100" dirty="0"/>
          </a:p>
        </p:txBody>
      </p:sp>
      <p:sp>
        <p:nvSpPr>
          <p:cNvPr id="20" name="Shape 18"/>
          <p:cNvSpPr/>
          <p:nvPr/>
        </p:nvSpPr>
        <p:spPr>
          <a:xfrm>
            <a:off x="3246120" y="2834640"/>
            <a:ext cx="2651760" cy="1664208"/>
          </a:xfrm>
          <a:prstGeom prst="rect">
            <a:avLst/>
          </a:prstGeom>
          <a:solidFill>
            <a:srgbClr val="FBF6F1"/>
          </a:solidFill>
          <a:ln w="12700">
            <a:solidFill>
              <a:srgbClr val="D6C5B8"/>
            </a:solidFill>
            <a:prstDash val="solid"/>
          </a:ln>
        </p:spPr>
      </p:sp>
      <p:sp>
        <p:nvSpPr>
          <p:cNvPr id="21" name="Shape 19"/>
          <p:cNvSpPr/>
          <p:nvPr/>
        </p:nvSpPr>
        <p:spPr>
          <a:xfrm>
            <a:off x="3246120" y="2834640"/>
            <a:ext cx="2651760" cy="329184"/>
          </a:xfrm>
          <a:prstGeom prst="rect">
            <a:avLst/>
          </a:prstGeom>
          <a:solidFill>
            <a:srgbClr val="B85042"/>
          </a:solidFill>
          <a:ln w="12700">
            <a:solidFill>
              <a:srgbClr val="B85042"/>
            </a:solidFill>
            <a:prstDash val="solid"/>
          </a:ln>
        </p:spPr>
      </p:sp>
      <p:sp>
        <p:nvSpPr>
          <p:cNvPr id="22" name="Text 20"/>
          <p:cNvSpPr/>
          <p:nvPr/>
        </p:nvSpPr>
        <p:spPr>
          <a:xfrm>
            <a:off x="3337560" y="2871216"/>
            <a:ext cx="24688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  Age &amp; Risk</a:t>
            </a:r>
            <a:endParaRPr lang="en-US" sz="1200" dirty="0"/>
          </a:p>
        </p:txBody>
      </p:sp>
      <p:sp>
        <p:nvSpPr>
          <p:cNvPr id="23" name="Text 21"/>
          <p:cNvSpPr/>
          <p:nvPr/>
        </p:nvSpPr>
        <p:spPr>
          <a:xfrm>
            <a:off x="3337560" y="3218688"/>
            <a:ext cx="2487168" cy="120700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Senior drivers are involved in the most severe accidents on average. Risk rises steadily from Teenager to Senior.</a:t>
            </a:r>
            <a:endParaRPr lang="en-US" sz="1100" dirty="0"/>
          </a:p>
        </p:txBody>
      </p:sp>
      <p:sp>
        <p:nvSpPr>
          <p:cNvPr id="24" name="Shape 22"/>
          <p:cNvSpPr/>
          <p:nvPr/>
        </p:nvSpPr>
        <p:spPr>
          <a:xfrm>
            <a:off x="6035040" y="2834640"/>
            <a:ext cx="2651760" cy="1664208"/>
          </a:xfrm>
          <a:prstGeom prst="rect">
            <a:avLst/>
          </a:prstGeom>
          <a:solidFill>
            <a:srgbClr val="FBF6F1"/>
          </a:solidFill>
          <a:ln w="12700">
            <a:solidFill>
              <a:srgbClr val="D6C5B8"/>
            </a:solidFill>
            <a:prstDash val="solid"/>
          </a:ln>
        </p:spPr>
      </p:sp>
      <p:sp>
        <p:nvSpPr>
          <p:cNvPr id="25" name="Shape 23"/>
          <p:cNvSpPr/>
          <p:nvPr/>
        </p:nvSpPr>
        <p:spPr>
          <a:xfrm>
            <a:off x="6035040" y="2834640"/>
            <a:ext cx="2651760" cy="329184"/>
          </a:xfrm>
          <a:prstGeom prst="rect">
            <a:avLst/>
          </a:prstGeom>
          <a:solidFill>
            <a:srgbClr val="B85042"/>
          </a:solidFill>
          <a:ln w="12700">
            <a:solidFill>
              <a:srgbClr val="B85042"/>
            </a:solidFill>
            <a:prstDash val="solid"/>
          </a:ln>
        </p:spPr>
      </p:sp>
      <p:sp>
        <p:nvSpPr>
          <p:cNvPr id="26" name="Text 24"/>
          <p:cNvSpPr/>
          <p:nvPr/>
        </p:nvSpPr>
        <p:spPr>
          <a:xfrm>
            <a:off x="6126480" y="2871216"/>
            <a:ext cx="24688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  Data Quality is Key</a:t>
            </a:r>
            <a:endParaRPr lang="en-US" sz="1200" dirty="0"/>
          </a:p>
        </p:txBody>
      </p:sp>
      <p:sp>
        <p:nvSpPr>
          <p:cNvPr id="27" name="Text 25"/>
          <p:cNvSpPr/>
          <p:nvPr/>
        </p:nvSpPr>
        <p:spPr>
          <a:xfrm>
            <a:off x="6126480" y="3218688"/>
            <a:ext cx="2487168" cy="1207008"/>
          </a:xfrm>
          <a:prstGeom prst="rect">
            <a:avLst/>
          </a:prstGeom>
          <a:noFill/>
          <a:ln/>
        </p:spPr>
        <p:txBody>
          <a:bodyPr wrap="square" rtlCol="0" anchor="ctr"/>
          <a:lstStyle/>
          <a:p>
            <a:pPr marL="0" indent="0">
              <a:buNone/>
            </a:pPr>
            <a:r>
              <a:rPr lang="en-US" sz="1100" dirty="0">
                <a:solidFill>
                  <a:srgbClr val="2B2D2F"/>
                </a:solidFill>
                <a:latin typeface="Calibri" pitchFamily="34" charset="0"/>
                <a:ea typeface="Calibri" pitchFamily="34" charset="-122"/>
                <a:cs typeface="Calibri" pitchFamily="34" charset="-120"/>
              </a:rPr>
              <a:t>957 missing values across 6 columns were resolved using median imputation and text normalization before any analysis could begin.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85042"/>
          </a:solidFill>
          <a:ln w="12700">
            <a:solidFill>
              <a:srgbClr val="B85042"/>
            </a:solidFill>
            <a:prstDash val="solid"/>
          </a:ln>
        </p:spPr>
      </p:sp>
      <p:sp>
        <p:nvSpPr>
          <p:cNvPr id="3" name="Text 1"/>
          <p:cNvSpPr/>
          <p:nvPr/>
        </p:nvSpPr>
        <p:spPr>
          <a:xfrm>
            <a:off x="411480" y="365760"/>
            <a:ext cx="832104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Text 2"/>
          <p:cNvSpPr/>
          <p:nvPr/>
        </p:nvSpPr>
        <p:spPr>
          <a:xfrm>
            <a:off x="411480" y="1188720"/>
            <a:ext cx="8321040" cy="347472"/>
          </a:xfrm>
          <a:prstGeom prst="rect">
            <a:avLst/>
          </a:prstGeom>
          <a:noFill/>
          <a:ln/>
        </p:spPr>
        <p:txBody>
          <a:bodyPr wrap="square" rtlCol="0" anchor="ctr"/>
          <a:lstStyle/>
          <a:p>
            <a:pPr marL="0" indent="0">
              <a:buNone/>
            </a:pPr>
            <a:r>
              <a:rPr lang="en-US" sz="1800" b="1" dirty="0">
                <a:solidFill>
                  <a:srgbClr val="E07B54"/>
                </a:solidFill>
                <a:latin typeface="Calibri" pitchFamily="34" charset="0"/>
                <a:ea typeface="Calibri" pitchFamily="34" charset="-122"/>
                <a:cs typeface="Calibri" pitchFamily="34" charset="-120"/>
              </a:rPr>
              <a:t>What We Achieved</a:t>
            </a:r>
            <a:endParaRPr lang="en-US" sz="1800" dirty="0"/>
          </a:p>
        </p:txBody>
      </p:sp>
      <p:sp>
        <p:nvSpPr>
          <p:cNvPr id="5" name="Text 3"/>
          <p:cNvSpPr/>
          <p:nvPr/>
        </p:nvSpPr>
        <p:spPr>
          <a:xfrm>
            <a:off x="411480" y="1600200"/>
            <a:ext cx="8321040" cy="347472"/>
          </a:xfrm>
          <a:prstGeom prst="rect">
            <a:avLst/>
          </a:prstGeom>
          <a:noFill/>
          <a:ln/>
        </p:spPr>
        <p:txBody>
          <a:bodyPr wrap="square" rtlCol="0" anchor="ctr"/>
          <a:lstStyle/>
          <a:p>
            <a:pPr marL="0" indent="0">
              <a:buNone/>
            </a:pPr>
            <a:r>
              <a:rPr lang="en-US" sz="1300" dirty="0">
                <a:solidFill>
                  <a:srgbClr val="D0C0B0"/>
                </a:solidFill>
                <a:latin typeface="Calibri" pitchFamily="34" charset="0"/>
                <a:ea typeface="Calibri" pitchFamily="34" charset="-122"/>
                <a:cs typeface="Calibri" pitchFamily="34" charset="-120"/>
              </a:rPr>
              <a:t>▸  Cleaned a real-world accident dataset: resolved 957 missing values across 6 columns using median imputation and text normalization</a:t>
            </a:r>
            <a:endParaRPr lang="en-US" sz="1300" dirty="0"/>
          </a:p>
        </p:txBody>
      </p:sp>
      <p:sp>
        <p:nvSpPr>
          <p:cNvPr id="6" name="Text 4"/>
          <p:cNvSpPr/>
          <p:nvPr/>
        </p:nvSpPr>
        <p:spPr>
          <a:xfrm>
            <a:off x="411480" y="1965960"/>
            <a:ext cx="8321040" cy="347472"/>
          </a:xfrm>
          <a:prstGeom prst="rect">
            <a:avLst/>
          </a:prstGeom>
          <a:noFill/>
          <a:ln/>
        </p:spPr>
        <p:txBody>
          <a:bodyPr wrap="square" rtlCol="0" anchor="ctr"/>
          <a:lstStyle/>
          <a:p>
            <a:pPr marL="0" indent="0">
              <a:buNone/>
            </a:pPr>
            <a:r>
              <a:rPr lang="en-US" sz="1300" dirty="0">
                <a:solidFill>
                  <a:srgbClr val="D0C0B0"/>
                </a:solidFill>
                <a:latin typeface="Calibri" pitchFamily="34" charset="0"/>
                <a:ea typeface="Calibri" pitchFamily="34" charset="-122"/>
                <a:cs typeface="Calibri" pitchFamily="34" charset="-120"/>
              </a:rPr>
              <a:t>▸  Identified that weather affects accident frequency but NOT necessarily casualty severity per incident</a:t>
            </a:r>
            <a:endParaRPr lang="en-US" sz="1300" dirty="0"/>
          </a:p>
        </p:txBody>
      </p:sp>
      <p:sp>
        <p:nvSpPr>
          <p:cNvPr id="7" name="Text 5"/>
          <p:cNvSpPr/>
          <p:nvPr/>
        </p:nvSpPr>
        <p:spPr>
          <a:xfrm>
            <a:off x="411480" y="2331720"/>
            <a:ext cx="8321040" cy="347472"/>
          </a:xfrm>
          <a:prstGeom prst="rect">
            <a:avLst/>
          </a:prstGeom>
          <a:noFill/>
          <a:ln/>
        </p:spPr>
        <p:txBody>
          <a:bodyPr wrap="square" rtlCol="0" anchor="ctr"/>
          <a:lstStyle/>
          <a:p>
            <a:pPr marL="0" indent="0">
              <a:buNone/>
            </a:pPr>
            <a:r>
              <a:rPr lang="en-US" sz="1300" dirty="0">
                <a:solidFill>
                  <a:srgbClr val="D0C0B0"/>
                </a:solidFill>
                <a:latin typeface="Calibri" pitchFamily="34" charset="0"/>
                <a:ea typeface="Calibri" pitchFamily="34" charset="-122"/>
                <a:cs typeface="Calibri" pitchFamily="34" charset="-120"/>
              </a:rPr>
              <a:t>▸  Established road conditions (Icy/Snowy) and light conditions (Night) as the clearest severity drivers</a:t>
            </a:r>
            <a:endParaRPr lang="en-US" sz="1300" dirty="0"/>
          </a:p>
        </p:txBody>
      </p:sp>
      <p:sp>
        <p:nvSpPr>
          <p:cNvPr id="8" name="Text 6"/>
          <p:cNvSpPr/>
          <p:nvPr/>
        </p:nvSpPr>
        <p:spPr>
          <a:xfrm>
            <a:off x="411480" y="2697480"/>
            <a:ext cx="8321040" cy="347472"/>
          </a:xfrm>
          <a:prstGeom prst="rect">
            <a:avLst/>
          </a:prstGeom>
          <a:noFill/>
          <a:ln/>
        </p:spPr>
        <p:txBody>
          <a:bodyPr wrap="square" rtlCol="0" anchor="ctr"/>
          <a:lstStyle/>
          <a:p>
            <a:pPr marL="0" indent="0">
              <a:buNone/>
            </a:pPr>
            <a:r>
              <a:rPr lang="en-US" sz="1300" dirty="0">
                <a:solidFill>
                  <a:srgbClr val="D0C0B0"/>
                </a:solidFill>
                <a:latin typeface="Calibri" pitchFamily="34" charset="0"/>
                <a:ea typeface="Calibri" pitchFamily="34" charset="-122"/>
                <a:cs typeface="Calibri" pitchFamily="34" charset="-120"/>
              </a:rPr>
              <a:t>▸  Showed that bar charts showing averages can mislead — boxplots reveal the true spread</a:t>
            </a:r>
            <a:endParaRPr lang="en-US" sz="1300" dirty="0"/>
          </a:p>
        </p:txBody>
      </p:sp>
      <p:sp>
        <p:nvSpPr>
          <p:cNvPr id="9" name="Text 7"/>
          <p:cNvSpPr/>
          <p:nvPr/>
        </p:nvSpPr>
        <p:spPr>
          <a:xfrm>
            <a:off x="411480" y="3840480"/>
            <a:ext cx="8321040" cy="256032"/>
          </a:xfrm>
          <a:prstGeom prst="rect">
            <a:avLst/>
          </a:prstGeom>
          <a:noFill/>
          <a:ln/>
        </p:spPr>
        <p:txBody>
          <a:bodyPr wrap="square" rtlCol="0" anchor="ctr"/>
          <a:lstStyle/>
          <a:p>
            <a:pPr marL="0" indent="0">
              <a:buNone/>
            </a:pPr>
            <a:r>
              <a:rPr lang="en-US" sz="1200" i="1" dirty="0">
                <a:solidFill>
                  <a:srgbClr val="7A8694"/>
                </a:solidFill>
                <a:latin typeface="Calibri" pitchFamily="34" charset="0"/>
                <a:ea typeface="Calibri" pitchFamily="34" charset="-122"/>
                <a:cs typeface="Calibri" pitchFamily="34" charset="-120"/>
              </a:rPr>
              <a:t>Road safety is preventable. Data-driven insights save lives.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Accident Data Analysis</dc:title>
  <dc:subject>PptxGenJS Presentation</dc:subject>
  <dc:creator>PptxGenJS</dc:creator>
  <cp:lastModifiedBy>PptxGenJS</cp:lastModifiedBy>
  <cp:revision>68</cp:revision>
  <dcterms:created xsi:type="dcterms:W3CDTF">2026-04-17T15:50:10Z</dcterms:created>
  <dcterms:modified xsi:type="dcterms:W3CDTF">2026-04-17T16:59:45Z</dcterms:modified>
</cp:coreProperties>
</file>