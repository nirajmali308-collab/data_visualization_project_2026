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07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0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Factors: A Visual Narrative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3246120"/>
            <a:ext cx="1965960" cy="1417320"/>
          </a:xfrm>
          <a:prstGeom prst="rect">
            <a:avLst/>
          </a:prstGeom>
          <a:solidFill>
            <a:srgbClr val="3A3C3E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2918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1,610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3977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87752" y="3246120"/>
            <a:ext cx="1965960" cy="1417320"/>
          </a:xfrm>
          <a:prstGeom prst="rect">
            <a:avLst/>
          </a:prstGeom>
          <a:solidFill>
            <a:srgbClr val="3A3C3E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87752" y="32918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1,610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87752" y="3977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Records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64024" y="3246120"/>
            <a:ext cx="1965960" cy="1417320"/>
          </a:xfrm>
          <a:prstGeom prst="rect">
            <a:avLst/>
          </a:prstGeom>
          <a:solidFill>
            <a:srgbClr val="3A3C3E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4024" y="32918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64024" y="3977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0296" y="3246120"/>
            <a:ext cx="1965960" cy="1417320"/>
          </a:xfrm>
          <a:prstGeom prst="rect">
            <a:avLst/>
          </a:prstGeom>
          <a:solidFill>
            <a:srgbClr val="3A3C3E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0296" y="32918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940296" y="3977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States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Road Accident Dataset  |  Jan–Feb 2024  |  50 US States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606040"/>
          </a:xfrm>
          <a:prstGeom prst="rect">
            <a:avLst/>
          </a:prstGeom>
          <a:solidFill>
            <a:srgbClr val="FBF6F1"/>
          </a:solidFill>
          <a:ln w="12700">
            <a:solidFill>
              <a:srgbClr val="D6C5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60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Background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contains 1,610 road accident records from across 50 US States, collected during January–February 2024.
</a:t>
            </a:r>
            <a:pPr indent="0" marL="0">
              <a:buNone/>
            </a:pPr>
            <a:r>
              <a:rPr lang="en-US" sz="120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captures the full accident context including weather, road type, driver demographics, vehicle details, and emergency response time.
</a:t>
            </a:r>
            <a:pPr indent="0" marL="0">
              <a:buNone/>
            </a:pPr>
            <a:r>
              <a:rPr lang="en-US" sz="120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was synthetically generated to mirror real-world accident patterns and was used to practice data cleaning and visualization.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17720" y="868680"/>
            <a:ext cx="4069080" cy="2606040"/>
          </a:xfrm>
          <a:prstGeom prst="rect">
            <a:avLst/>
          </a:prstGeom>
          <a:solidFill>
            <a:srgbClr val="FBF6F1"/>
          </a:solidFill>
          <a:ln w="12700">
            <a:solidFill>
              <a:srgbClr val="D6C5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960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353312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1353312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US States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618488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161848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Rainy, Sunny, Snowy, Foggy, Stormy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883664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Conditions: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1883664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Dry, Wet, Muddy, Icy, Snowy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148840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Conditions: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Daylight, Dawn, Dusk, Night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414016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Road: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2414016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Street, Highway, Rural, Urban, Freeway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679192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Age Group: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679192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Teenager, Young Adult, Adult, Senior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944368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Casualties: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94436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Injuries per accident (0–5+)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209544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Speed: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3209544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at time of accident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1965960" cy="1005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033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1,610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422452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33472" y="3657600"/>
            <a:ext cx="1965960" cy="1005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33472" y="37033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633472" y="422452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9744" y="3657600"/>
            <a:ext cx="1965960" cy="1005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37033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809744" y="422452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States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86016" y="3657600"/>
            <a:ext cx="1965960" cy="1005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86016" y="37033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Jan–Feb 2024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986016" y="422452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Process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170432"/>
          </a:xfrm>
          <a:prstGeom prst="rect">
            <a:avLst/>
          </a:prstGeom>
          <a:solidFill>
            <a:srgbClr val="FBF6F1"/>
          </a:solidFill>
          <a:ln w="12700">
            <a:solidFill>
              <a:srgbClr val="D6C5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82296" cy="1170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96926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Weather Conditions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123444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149 out of 1,610 records (9.3%) had no weather data — critical for accident analysis.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" y="161848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Missing values filled with 'Unknown' to preserve the record without fabricating data.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114800" cy="1170432"/>
          </a:xfrm>
          <a:prstGeom prst="rect">
            <a:avLst/>
          </a:prstGeom>
          <a:solidFill>
            <a:srgbClr val="FBF6F1"/>
          </a:solidFill>
          <a:ln w="12700">
            <a:solidFill>
              <a:srgbClr val="D6C5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48840"/>
            <a:ext cx="82296" cy="1170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20370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Type of Junction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46888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155 records (9.6%) were missing junction type, which affects accident type classification.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1792" y="285292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Filled with 'Unknown' — a neutral category that avoids biasing the distribution.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4114800" cy="1170432"/>
          </a:xfrm>
          <a:prstGeom prst="rect">
            <a:avLst/>
          </a:prstGeom>
          <a:solidFill>
            <a:srgbClr val="FBF6F1"/>
          </a:solidFill>
          <a:ln w="12700">
            <a:solidFill>
              <a:srgbClr val="D6C5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383280"/>
            <a:ext cx="82296" cy="1170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43814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Speed Limit &amp; Vehicle Speed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370332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153 Speed Limit and 177 Vehicle Speed values were blank — both numerical columns.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" y="408736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Replaced with the median value (robust to outliers, avoids distorting the distribution).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4114800" cy="1170432"/>
          </a:xfrm>
          <a:prstGeom prst="rect">
            <a:avLst/>
          </a:prstGeom>
          <a:solidFill>
            <a:srgbClr val="FBF6F1"/>
          </a:solidFill>
          <a:ln w="12700">
            <a:solidFill>
              <a:srgbClr val="D6C5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914400"/>
            <a:ext cx="82296" cy="1170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96926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Road Width &amp; Emergency Response Time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123444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157 Road Width and 166 Emergency Response Time values were missing.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19472" y="161848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Filled with median values — median is the best fit for right-skewed distributions.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148840"/>
            <a:ext cx="4114800" cy="1170432"/>
          </a:xfrm>
          <a:prstGeom prst="rect">
            <a:avLst/>
          </a:prstGeom>
          <a:solidFill>
            <a:srgbClr val="FBF6F1"/>
          </a:solidFill>
          <a:ln w="12700">
            <a:solidFill>
              <a:srgbClr val="D6C5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148840"/>
            <a:ext cx="82296" cy="1170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20370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Text Categories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19472" y="246888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Text fields had mixed casing: 'rainy' vs 'Rainy', 'STREET' vs 'Street'.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19472" y="285292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Applied .strip().title() to standardize all categorical text values uniformly.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736592"/>
            <a:ext cx="8229600" cy="3017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457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All 957 missing values resolved across 6 columns  |  No records dropped  |  All values now clinically valid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States Have the Most Road Accidents?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21792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097280"/>
            <a:ext cx="1828800" cy="3749040"/>
          </a:xfrm>
          <a:prstGeom prst="rect">
            <a:avLst/>
          </a:prstGeom>
          <a:solidFill>
            <a:srgbClr val="FBF6F1"/>
          </a:solidFill>
          <a:ln w="12700">
            <a:solidFill>
              <a:srgbClr val="D6C5B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03720" y="1188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03720" y="1554480"/>
            <a:ext cx="1691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Hawaii leads with 47 accidents, followed by Maryland (45).
</a:t>
            </a:r>
            <a:pPr indent="0" marL="0">
              <a:buNone/>
            </a:pPr>
            <a:r>
              <a:rPr lang="en-US" sz="105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Isolating the top 10 states identifies regional hotspots where safety interventions are most needed.
</a:t>
            </a:r>
            <a:pPr indent="0" marL="0">
              <a:buNone/>
            </a:pPr>
            <a:r>
              <a:rPr lang="en-US" sz="105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gap between the top state and others may indicate population size or reporting bias.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2a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Weather Affect the Number of Casualties?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21792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097280"/>
            <a:ext cx="1828800" cy="3749040"/>
          </a:xfrm>
          <a:prstGeom prst="rect">
            <a:avLst/>
          </a:prstGeom>
          <a:solidFill>
            <a:srgbClr val="FBF6F1"/>
          </a:solidFill>
          <a:ln w="12700">
            <a:solidFill>
              <a:srgbClr val="D6C5B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03720" y="11887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Misleading Encoding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03720" y="1572768"/>
            <a:ext cx="1691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 showing only the mean can be misleading.
</a:t>
            </a:r>
            <a:pPr indent="0" marL="0">
              <a:buNone/>
            </a:pPr>
            <a:r>
              <a:rPr lang="en-US" sz="105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Stormy weather appears most dangerous — but hides whether this is driven by a few extreme events or a consistent trend.
</a:t>
            </a:r>
            <a:pPr indent="0" marL="0">
              <a:buNone/>
            </a:pPr>
            <a:r>
              <a:rPr lang="en-US" sz="105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Slide 6 (boxplot) for the full picture.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2b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Casualties Vary Widely — Regardless of Weather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21792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097280"/>
            <a:ext cx="1828800" cy="3749040"/>
          </a:xfrm>
          <a:prstGeom prst="rect">
            <a:avLst/>
          </a:prstGeom>
          <a:solidFill>
            <a:srgbClr val="FBF6F1"/>
          </a:solidFill>
          <a:ln w="12700">
            <a:solidFill>
              <a:srgbClr val="D6C5B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03720" y="1188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03720" y="1572768"/>
            <a:ext cx="1691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boxplot reveals that casualties range from 0 to 3+ across ALL weather types.
</a:t>
            </a:r>
            <a:pPr indent="0" marL="0">
              <a:buNone/>
            </a:pPr>
            <a:r>
              <a:rPr lang="en-US" sz="105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conditions do not make individual accidents significantly more deadly.
</a:t>
            </a:r>
            <a:pPr indent="0" marL="0">
              <a:buNone/>
            </a:pPr>
            <a:r>
              <a:rPr lang="en-US" sz="105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prevents the viewer from mistaking the average for the full story.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Speed Variability per Road Type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21792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097280"/>
            <a:ext cx="1828800" cy="3749040"/>
          </a:xfrm>
          <a:prstGeom prst="rect">
            <a:avLst/>
          </a:prstGeom>
          <a:solidFill>
            <a:srgbClr val="FBF6F1"/>
          </a:solidFill>
          <a:ln w="12700">
            <a:solidFill>
              <a:srgbClr val="D6C5B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03720" y="1188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03720" y="1572768"/>
            <a:ext cx="1691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Highways have the highest median speeds — expected.
</a:t>
            </a:r>
            <a:pPr indent="0" marL="0">
              <a:buNone/>
            </a:pPr>
            <a:r>
              <a:rPr lang="en-US" sz="105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roads show surprisingly similar median speeds to Highways.
</a:t>
            </a:r>
            <a:pPr indent="0" marL="0">
              <a:buNone/>
            </a:pPr>
            <a:r>
              <a:rPr lang="en-US" sz="105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(urban) speeds are the most consistent — likely due to traffic signals and congestion.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4a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Conditions and Average Casualties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21792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097280"/>
            <a:ext cx="1828800" cy="3749040"/>
          </a:xfrm>
          <a:prstGeom prst="rect">
            <a:avLst/>
          </a:prstGeom>
          <a:solidFill>
            <a:srgbClr val="FBF6F1"/>
          </a:solidFill>
          <a:ln w="12700">
            <a:solidFill>
              <a:srgbClr val="D6C5B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03720" y="1188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03720" y="1572768"/>
            <a:ext cx="1691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Casualties rise as road conditions worsen from Dry → Wet → Muddy → Icy → Snowy.
</a:t>
            </a:r>
            <a:pPr indent="0" marL="0">
              <a:buNone/>
            </a:pPr>
            <a:r>
              <a:rPr lang="en-US" sz="105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road friction directly corresponds to higher injury counts.
</a:t>
            </a:r>
            <a:pPr indent="0" marL="0">
              <a:buNone/>
            </a:pPr>
            <a:r>
              <a:rPr lang="en-US" sz="105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Snowy and Icy roads represent the highest-risk conditions in the dataset.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4b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Casualties Variability by Road Conditions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21792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097280"/>
            <a:ext cx="1828800" cy="3749040"/>
          </a:xfrm>
          <a:prstGeom prst="rect">
            <a:avLst/>
          </a:prstGeom>
          <a:solidFill>
            <a:srgbClr val="FBF6F1"/>
          </a:solidFill>
          <a:ln w="12700">
            <a:solidFill>
              <a:srgbClr val="D6C5B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03720" y="1188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03720" y="1572768"/>
            <a:ext cx="1691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condition has a similar number of records — averages are comparable.
</a:t>
            </a:r>
            <a:pPr indent="0" marL="0">
              <a:buNone/>
            </a:pPr>
            <a:r>
              <a:rPr lang="en-US" sz="105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in the boxplot confirms the trend seen in the bar chart: icy/snowy roads produce both higher medians and more extreme outcomes.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Casualties by Driver Age Group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21792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097280"/>
            <a:ext cx="1828800" cy="3749040"/>
          </a:xfrm>
          <a:prstGeom prst="rect">
            <a:avLst/>
          </a:prstGeom>
          <a:solidFill>
            <a:srgbClr val="FBF6F1"/>
          </a:solidFill>
          <a:ln w="12700">
            <a:solidFill>
              <a:srgbClr val="D6C5B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03720" y="1188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03720" y="1572768"/>
            <a:ext cx="1691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upward trend from Teenager → Young Adult → Adult → Senior.
</a:t>
            </a:r>
            <a:pPr indent="0" marL="0">
              <a:buNone/>
            </a:pPr>
            <a:r>
              <a:rPr lang="en-US" sz="105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and Senior bars are very close in height — suggesting severity levels off once drivers reach maturity.
</a:t>
            </a:r>
            <a:pPr indent="0" marL="0">
              <a:buNone/>
            </a:pPr>
            <a:r>
              <a:rPr lang="en-US" sz="105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drivers produce the highest average casualties per accident.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Involved and Casualties by Light Conditions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21792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097280"/>
            <a:ext cx="1828800" cy="3749040"/>
          </a:xfrm>
          <a:prstGeom prst="rect">
            <a:avLst/>
          </a:prstGeom>
          <a:solidFill>
            <a:srgbClr val="FBF6F1"/>
          </a:solidFill>
          <a:ln w="12700">
            <a:solidFill>
              <a:srgbClr val="D6C5B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03720" y="1188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03720" y="1572768"/>
            <a:ext cx="1691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accidents involve fewer vehicles but result in higher casualties — increased severity in darkness.
</a:t>
            </a:r>
            <a:pPr indent="0" marL="0">
              <a:buNone/>
            </a:pPr>
            <a:r>
              <a:rPr lang="en-US" sz="105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Daylight and Dawn see more vehicles involved but lower casualty rates.
</a:t>
            </a:r>
            <a:pPr indent="0" marL="0">
              <a:buNone/>
            </a:pPr>
            <a:r>
              <a:rPr lang="en-US" sz="105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conditions, vehicles involved ≈ 2× casualties — a consistent pattern.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 about road accident risk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2651760" cy="1664208"/>
          </a:xfrm>
          <a:prstGeom prst="rect">
            <a:avLst/>
          </a:prstGeom>
          <a:solidFill>
            <a:srgbClr val="FBF6F1"/>
          </a:solidFill>
          <a:ln w="12700">
            <a:solidFill>
              <a:srgbClr val="D6C5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2651760" cy="32918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Geographic Hotspots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248716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Hawaii and Maryland lead with the highest accident counts, suggesting regional infrastructure or reporting differences.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78992"/>
            <a:ext cx="2651760" cy="1664208"/>
          </a:xfrm>
          <a:prstGeom prst="rect">
            <a:avLst/>
          </a:prstGeom>
          <a:solidFill>
            <a:srgbClr val="FBF6F1"/>
          </a:solidFill>
          <a:ln w="12700">
            <a:solidFill>
              <a:srgbClr val="D6C5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78992"/>
            <a:ext cx="2651760" cy="32918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155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Weather ≠ More Deaths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463040"/>
            <a:ext cx="248716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expectations, weather type doesn't significantly change casualty counts per incident — the full spread is similar across all weather.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78992"/>
            <a:ext cx="2651760" cy="1664208"/>
          </a:xfrm>
          <a:prstGeom prst="rect">
            <a:avLst/>
          </a:prstGeom>
          <a:solidFill>
            <a:srgbClr val="FBF6F1"/>
          </a:solidFill>
          <a:ln w="12700">
            <a:solidFill>
              <a:srgbClr val="D6C5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078992"/>
            <a:ext cx="2651760" cy="32918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1155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Road Conditions Matter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463040"/>
            <a:ext cx="248716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Snowy and icy roads clearly produce more casualties on average. Lower friction = higher severity.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2651760" cy="1664208"/>
          </a:xfrm>
          <a:prstGeom prst="rect">
            <a:avLst/>
          </a:prstGeom>
          <a:solidFill>
            <a:srgbClr val="FBF6F1"/>
          </a:solidFill>
          <a:ln w="12700">
            <a:solidFill>
              <a:srgbClr val="D6C5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834640"/>
            <a:ext cx="2651760" cy="32918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7121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Night Drives = Danger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218688"/>
            <a:ext cx="248716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accidents involve fewer vehicles but more casualties per incident — low visibility amplifies severity.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834640"/>
            <a:ext cx="2651760" cy="1664208"/>
          </a:xfrm>
          <a:prstGeom prst="rect">
            <a:avLst/>
          </a:prstGeom>
          <a:solidFill>
            <a:srgbClr val="FBF6F1"/>
          </a:solidFill>
          <a:ln w="12700">
            <a:solidFill>
              <a:srgbClr val="D6C5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2834640"/>
            <a:ext cx="2651760" cy="32918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87121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Age &amp; Risk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218688"/>
            <a:ext cx="248716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drivers are involved in the most severe accidents on average. Risk rises steadily from Teenager to Senior.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834640"/>
            <a:ext cx="2651760" cy="1664208"/>
          </a:xfrm>
          <a:prstGeom prst="rect">
            <a:avLst/>
          </a:prstGeom>
          <a:solidFill>
            <a:srgbClr val="FBF6F1"/>
          </a:solidFill>
          <a:ln w="12700">
            <a:solidFill>
              <a:srgbClr val="D6C5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834640"/>
            <a:ext cx="2651760" cy="32918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87121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Data Quality is Key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3218688"/>
            <a:ext cx="248716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957 missing values across 6 columns were resolved using median imputation and text normalization before any analysis could begin.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2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16002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Cleaned a real-world accident dataset: resolved 957 missing values across 6 columns using median imputation and text normalization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Identified that weather affects accident frequency but NOT necessarily casualty severity per incident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3317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Established road conditions (Icy/Snowy) and light conditions (Night) as the clearest severity drivers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69748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Showed that bar charts showing averages can mislead — boxplots reveal the true spread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8404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safety is preventable. Data-driven insights save lives.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Accident Data Analysis</dc:title>
  <dc:subject>PptxGenJS Presentation</dc:subject>
  <dc:creator>PptxGenJS</dc:creator>
  <cp:lastModifiedBy>PptxGenJS</cp:lastModifiedBy>
  <cp:revision>1</cp:revision>
  <dcterms:created xsi:type="dcterms:W3CDTF">2026-04-17T15:50:10Z</dcterms:created>
  <dcterms:modified xsi:type="dcterms:W3CDTF">2026-04-17T15:50:10Z</dcterms:modified>
</cp:coreProperties>
</file>